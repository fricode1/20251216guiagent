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1194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目录过渡页" id="{A506C381-4314-4720-8161-573E34EBFFEE}">
          <p14:sldIdLst/>
        </p14:section>
        <p14:section name="逻辑架构图" id="{CFCD32F9-5A4E-4CA8-A30F-89F07E7654C7}">
          <p14:sldIdLst>
            <p14:sldId id="1194"/>
          </p14:sldIdLst>
        </p14:section>
        <p14:section name="工作汇报通用页面" id="{AE3BB2B3-4952-4899-94A3-D1F9767A68AB}">
          <p14:sldIdLst/>
        </p14:section>
        <p14:section name="经典思维模型" id="{F1C2ACDC-7825-4BA2-AD07-1F496222CD8E}">
          <p14:sldIdLst/>
        </p14:section>
        <p14:section name="图文排版页面" id="{0DD4D2FA-C63E-4C6D-A0B7-0A61E9D127EA}">
          <p14:sldIdLst/>
        </p14:section>
        <p14:section name="数据图页" id="{2E0BC0C2-10CD-45CE-81E0-C102595F519A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74E0"/>
    <a:srgbClr val="FBFAFA"/>
    <a:srgbClr val="E6E6E6"/>
    <a:srgbClr val="E5E1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695" autoAdjust="0"/>
    <p:restoredTop sz="95026" autoAdjust="0"/>
  </p:normalViewPr>
  <p:slideViewPr>
    <p:cSldViewPr snapToGrid="0">
      <p:cViewPr>
        <p:scale>
          <a:sx n="100" d="100"/>
          <a:sy n="100" d="100"/>
        </p:scale>
        <p:origin x="876" y="6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903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OPPOSans M" panose="00020600040101010101" pitchFamily="18" charset="-122"/>
                <a:ea typeface="OPPOSans M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OPPOSans M" panose="00020600040101010101" pitchFamily="18" charset="-122"/>
                <a:ea typeface="OPPOSans M" panose="00020600040101010101" pitchFamily="18" charset="-122"/>
              </a:defRPr>
            </a:lvl1pPr>
          </a:lstStyle>
          <a:p>
            <a:fld id="{5A54F5A0-E0BD-4D39-BB95-72CB48177CF8}" type="datetimeFigureOut">
              <a:rPr lang="zh-CN" altLang="en-US" smtClean="0"/>
              <a:pPr/>
              <a:t>2025/12/22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OPPOSans M" panose="00020600040101010101" pitchFamily="18" charset="-122"/>
                <a:ea typeface="OPPOSans M" panose="00020600040101010101" pitchFamily="18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OPPOSans M" panose="00020600040101010101" pitchFamily="18" charset="-122"/>
                <a:ea typeface="OPPOSans M" panose="00020600040101010101" pitchFamily="18" charset="-122"/>
              </a:defRPr>
            </a:lvl1pPr>
          </a:lstStyle>
          <a:p>
            <a:fld id="{B7807B83-C6EF-4820-B29B-23163268F2BA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97967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OPPOSans M" panose="00020600040101010101" pitchFamily="18" charset="-122"/>
        <a:ea typeface="OPPOSans M" panose="00020600040101010101" pitchFamily="18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B34AC-095F-BD9D-AD35-1905E82C1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FCBB8B-E207-4A72-A621-3330343C8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08D91D-C56A-470B-C3E1-09F202461D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241FB4-9A47-CCA3-4FF6-E6B4890276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21230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1617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081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389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6611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CD8D8-2C69-D942-91CD-D951777D4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A425BA8-3F1A-73CA-66EB-BF648FACBDCE}"/>
              </a:ext>
            </a:extLst>
          </p:cNvPr>
          <p:cNvSpPr txBox="1"/>
          <p:nvPr/>
        </p:nvSpPr>
        <p:spPr>
          <a:xfrm>
            <a:off x="1377845" y="-400876"/>
            <a:ext cx="2737878" cy="487378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>
                <a:solidFill>
                  <a:schemeClr val="accent1"/>
                </a:solidFill>
                <a:latin typeface="+mj-ea"/>
                <a:ea typeface="+mj-ea"/>
                <a:cs typeface="阿里巴巴普惠体 M" panose="00020600040101010101" pitchFamily="18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endParaRPr lang="zh-CN" altLang="en-US" sz="2400" dirty="0">
              <a:latin typeface="OPPOSans B" panose="00020600040101010101" pitchFamily="18" charset="-122"/>
              <a:ea typeface="OPPOSans B" panose="00020600040101010101" pitchFamily="18" charset="-122"/>
            </a:endParaRPr>
          </a:p>
        </p:txBody>
      </p:sp>
      <p:sp>
        <p:nvSpPr>
          <p:cNvPr id="2" name="圆角矩形 1">
            <a:extLst>
              <a:ext uri="{FF2B5EF4-FFF2-40B4-BE49-F238E27FC236}">
                <a16:creationId xmlns:a16="http://schemas.microsoft.com/office/drawing/2014/main" id="{4A45EFA8-8EEE-1F37-636B-63A52ED20990}"/>
              </a:ext>
            </a:extLst>
          </p:cNvPr>
          <p:cNvSpPr/>
          <p:nvPr/>
        </p:nvSpPr>
        <p:spPr>
          <a:xfrm>
            <a:off x="4495800" y="1488851"/>
            <a:ext cx="3948408" cy="1154559"/>
          </a:xfrm>
          <a:prstGeom prst="roundRect">
            <a:avLst>
              <a:gd name="adj" fmla="val 8662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圆角矩形 16">
            <a:extLst>
              <a:ext uri="{FF2B5EF4-FFF2-40B4-BE49-F238E27FC236}">
                <a16:creationId xmlns:a16="http://schemas.microsoft.com/office/drawing/2014/main" id="{6A9B0E4B-4215-2CB8-3584-34D8AE6A23BD}"/>
              </a:ext>
            </a:extLst>
          </p:cNvPr>
          <p:cNvSpPr/>
          <p:nvPr/>
        </p:nvSpPr>
        <p:spPr>
          <a:xfrm>
            <a:off x="2380417" y="3021704"/>
            <a:ext cx="3744000" cy="2434454"/>
          </a:xfrm>
          <a:prstGeom prst="roundRect">
            <a:avLst>
              <a:gd name="adj" fmla="val 5393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同侧圆角矩形 17">
            <a:extLst>
              <a:ext uri="{FF2B5EF4-FFF2-40B4-BE49-F238E27FC236}">
                <a16:creationId xmlns:a16="http://schemas.microsoft.com/office/drawing/2014/main" id="{AAC61BDB-30E9-A428-0033-8F87EFC0D349}"/>
              </a:ext>
            </a:extLst>
          </p:cNvPr>
          <p:cNvSpPr/>
          <p:nvPr/>
        </p:nvSpPr>
        <p:spPr>
          <a:xfrm>
            <a:off x="2366348" y="2987712"/>
            <a:ext cx="3780000" cy="393362"/>
          </a:xfrm>
          <a:prstGeom prst="round2SameRect">
            <a:avLst>
              <a:gd name="adj1" fmla="val 30972"/>
              <a:gd name="adj2" fmla="val 0"/>
            </a:avLst>
          </a:prstGeom>
          <a:gradFill flip="none" rotWithShape="1">
            <a:gsLst>
              <a:gs pos="30000">
                <a:schemeClr val="accent2"/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圆角矩形 18">
            <a:extLst>
              <a:ext uri="{FF2B5EF4-FFF2-40B4-BE49-F238E27FC236}">
                <a16:creationId xmlns:a16="http://schemas.microsoft.com/office/drawing/2014/main" id="{2C6640A4-83AA-8B0A-3586-B5EEBA8C3E4D}"/>
              </a:ext>
            </a:extLst>
          </p:cNvPr>
          <p:cNvSpPr/>
          <p:nvPr/>
        </p:nvSpPr>
        <p:spPr>
          <a:xfrm>
            <a:off x="2773162" y="3524183"/>
            <a:ext cx="2374342" cy="465258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8A61E3F-5890-BE71-65A3-CCBC1AC17B14}"/>
              </a:ext>
            </a:extLst>
          </p:cNvPr>
          <p:cNvSpPr txBox="1"/>
          <p:nvPr/>
        </p:nvSpPr>
        <p:spPr>
          <a:xfrm>
            <a:off x="3245355" y="3092060"/>
            <a:ext cx="202198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60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zh-CN" altLang="en-US" sz="1200" dirty="0"/>
              <a:t>智能规划与决策 </a:t>
            </a:r>
            <a:r>
              <a:rPr lang="en-US" altLang="zh-CN" sz="1200" dirty="0"/>
              <a:t>(Planning)</a:t>
            </a:r>
            <a:endParaRPr lang="zh-CN" altLang="en-US" sz="1200" dirty="0"/>
          </a:p>
        </p:txBody>
      </p:sp>
      <p:sp>
        <p:nvSpPr>
          <p:cNvPr id="41" name="圆角矩形 26">
            <a:extLst>
              <a:ext uri="{FF2B5EF4-FFF2-40B4-BE49-F238E27FC236}">
                <a16:creationId xmlns:a16="http://schemas.microsoft.com/office/drawing/2014/main" id="{CC9C400C-951B-42A4-9AF0-BE9FE8079351}"/>
              </a:ext>
            </a:extLst>
          </p:cNvPr>
          <p:cNvSpPr/>
          <p:nvPr/>
        </p:nvSpPr>
        <p:spPr>
          <a:xfrm>
            <a:off x="2773162" y="4070109"/>
            <a:ext cx="1153295" cy="664560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3" name="圆角矩形 27">
            <a:extLst>
              <a:ext uri="{FF2B5EF4-FFF2-40B4-BE49-F238E27FC236}">
                <a16:creationId xmlns:a16="http://schemas.microsoft.com/office/drawing/2014/main" id="{539ECA30-25B1-75E8-0D43-E5A78FA6C047}"/>
              </a:ext>
            </a:extLst>
          </p:cNvPr>
          <p:cNvSpPr/>
          <p:nvPr/>
        </p:nvSpPr>
        <p:spPr>
          <a:xfrm>
            <a:off x="2773162" y="4810270"/>
            <a:ext cx="2374342" cy="465259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5" name="圆角矩形 28">
            <a:extLst>
              <a:ext uri="{FF2B5EF4-FFF2-40B4-BE49-F238E27FC236}">
                <a16:creationId xmlns:a16="http://schemas.microsoft.com/office/drawing/2014/main" id="{7632B551-69AD-7B6E-A848-C07049A5E8FF}"/>
              </a:ext>
            </a:extLst>
          </p:cNvPr>
          <p:cNvSpPr/>
          <p:nvPr/>
        </p:nvSpPr>
        <p:spPr>
          <a:xfrm>
            <a:off x="6275841" y="3026771"/>
            <a:ext cx="2667527" cy="2434454"/>
          </a:xfrm>
          <a:prstGeom prst="roundRect">
            <a:avLst>
              <a:gd name="adj" fmla="val 5393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8" name="同侧圆角矩形 29">
            <a:extLst>
              <a:ext uri="{FF2B5EF4-FFF2-40B4-BE49-F238E27FC236}">
                <a16:creationId xmlns:a16="http://schemas.microsoft.com/office/drawing/2014/main" id="{07613FC3-55E8-FF81-99FB-4979E5F07423}"/>
              </a:ext>
            </a:extLst>
          </p:cNvPr>
          <p:cNvSpPr/>
          <p:nvPr/>
        </p:nvSpPr>
        <p:spPr>
          <a:xfrm>
            <a:off x="6261773" y="2992779"/>
            <a:ext cx="2706728" cy="393362"/>
          </a:xfrm>
          <a:prstGeom prst="round2SameRect">
            <a:avLst>
              <a:gd name="adj1" fmla="val 30972"/>
              <a:gd name="adj2" fmla="val 0"/>
            </a:avLst>
          </a:prstGeom>
          <a:gradFill flip="none" rotWithShape="1">
            <a:gsLst>
              <a:gs pos="30000">
                <a:schemeClr val="accent2"/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1" name="圆角矩形 30">
            <a:extLst>
              <a:ext uri="{FF2B5EF4-FFF2-40B4-BE49-F238E27FC236}">
                <a16:creationId xmlns:a16="http://schemas.microsoft.com/office/drawing/2014/main" id="{D41FF957-C8D2-07BD-C152-F54E67DE57F9}"/>
              </a:ext>
            </a:extLst>
          </p:cNvPr>
          <p:cNvSpPr/>
          <p:nvPr/>
        </p:nvSpPr>
        <p:spPr>
          <a:xfrm>
            <a:off x="6413755" y="3559229"/>
            <a:ext cx="1117904" cy="519533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9E3EDAC-1515-3AA1-FCC0-CC5C63AE6D97}"/>
              </a:ext>
            </a:extLst>
          </p:cNvPr>
          <p:cNvSpPr txBox="1"/>
          <p:nvPr/>
        </p:nvSpPr>
        <p:spPr>
          <a:xfrm>
            <a:off x="6927559" y="3097127"/>
            <a:ext cx="137515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60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zh-CN" altLang="en-US" sz="1200" dirty="0"/>
              <a:t>记忆 </a:t>
            </a:r>
            <a:r>
              <a:rPr lang="en-US" altLang="zh-CN" sz="1200" dirty="0"/>
              <a:t>(Memory)</a:t>
            </a:r>
            <a:endParaRPr lang="zh-CN" altLang="en-US" sz="1200" dirty="0"/>
          </a:p>
        </p:txBody>
      </p:sp>
      <p:sp>
        <p:nvSpPr>
          <p:cNvPr id="55" name="圆角矩形 32">
            <a:extLst>
              <a:ext uri="{FF2B5EF4-FFF2-40B4-BE49-F238E27FC236}">
                <a16:creationId xmlns:a16="http://schemas.microsoft.com/office/drawing/2014/main" id="{4053C556-6912-3099-0CDB-1B8C2C0F7B90}"/>
              </a:ext>
            </a:extLst>
          </p:cNvPr>
          <p:cNvSpPr/>
          <p:nvPr/>
        </p:nvSpPr>
        <p:spPr>
          <a:xfrm>
            <a:off x="6413755" y="4175136"/>
            <a:ext cx="2374342" cy="519533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2" name="圆角矩形 33">
            <a:extLst>
              <a:ext uri="{FF2B5EF4-FFF2-40B4-BE49-F238E27FC236}">
                <a16:creationId xmlns:a16="http://schemas.microsoft.com/office/drawing/2014/main" id="{81D7958D-C0A8-FA84-92AF-77B7DB5B06CF}"/>
              </a:ext>
            </a:extLst>
          </p:cNvPr>
          <p:cNvSpPr/>
          <p:nvPr/>
        </p:nvSpPr>
        <p:spPr>
          <a:xfrm>
            <a:off x="6413755" y="4791043"/>
            <a:ext cx="2374342" cy="519533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3" name="圆角矩形 34">
            <a:extLst>
              <a:ext uri="{FF2B5EF4-FFF2-40B4-BE49-F238E27FC236}">
                <a16:creationId xmlns:a16="http://schemas.microsoft.com/office/drawing/2014/main" id="{DE64137D-77CD-A2C0-FBA7-EFBB4EA58C42}"/>
              </a:ext>
            </a:extLst>
          </p:cNvPr>
          <p:cNvSpPr/>
          <p:nvPr/>
        </p:nvSpPr>
        <p:spPr>
          <a:xfrm>
            <a:off x="4021999" y="4070109"/>
            <a:ext cx="1125506" cy="664560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4" name="圆角矩形 35">
            <a:extLst>
              <a:ext uri="{FF2B5EF4-FFF2-40B4-BE49-F238E27FC236}">
                <a16:creationId xmlns:a16="http://schemas.microsoft.com/office/drawing/2014/main" id="{CC66C186-9FA8-6507-0B1D-584E3D8AE61A}"/>
              </a:ext>
            </a:extLst>
          </p:cNvPr>
          <p:cNvSpPr/>
          <p:nvPr/>
        </p:nvSpPr>
        <p:spPr>
          <a:xfrm>
            <a:off x="5233251" y="3526736"/>
            <a:ext cx="493776" cy="1743726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5" name="圆角矩形 36">
            <a:extLst>
              <a:ext uri="{FF2B5EF4-FFF2-40B4-BE49-F238E27FC236}">
                <a16:creationId xmlns:a16="http://schemas.microsoft.com/office/drawing/2014/main" id="{0D752CAB-4A12-2D67-5397-3A733C62B8D9}"/>
              </a:ext>
            </a:extLst>
          </p:cNvPr>
          <p:cNvSpPr/>
          <p:nvPr/>
        </p:nvSpPr>
        <p:spPr>
          <a:xfrm>
            <a:off x="7670193" y="3559229"/>
            <a:ext cx="1117904" cy="519533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6" name="圆角矩形 37">
            <a:extLst>
              <a:ext uri="{FF2B5EF4-FFF2-40B4-BE49-F238E27FC236}">
                <a16:creationId xmlns:a16="http://schemas.microsoft.com/office/drawing/2014/main" id="{F20A665F-6B1E-323F-937A-1528EDFAA88A}"/>
              </a:ext>
            </a:extLst>
          </p:cNvPr>
          <p:cNvSpPr/>
          <p:nvPr/>
        </p:nvSpPr>
        <p:spPr>
          <a:xfrm>
            <a:off x="4905770" y="1687305"/>
            <a:ext cx="1182488" cy="3486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849908B0-4322-4888-9061-BE4F5424ED33}"/>
              </a:ext>
            </a:extLst>
          </p:cNvPr>
          <p:cNvSpPr txBox="1"/>
          <p:nvPr/>
        </p:nvSpPr>
        <p:spPr>
          <a:xfrm>
            <a:off x="5168466" y="1769300"/>
            <a:ext cx="65709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视综平台</a:t>
            </a:r>
          </a:p>
        </p:txBody>
      </p:sp>
      <p:sp>
        <p:nvSpPr>
          <p:cNvPr id="139" name="圆角矩形 46">
            <a:extLst>
              <a:ext uri="{FF2B5EF4-FFF2-40B4-BE49-F238E27FC236}">
                <a16:creationId xmlns:a16="http://schemas.microsoft.com/office/drawing/2014/main" id="{128E494E-9B6A-E0C7-C825-146B828D8096}"/>
              </a:ext>
            </a:extLst>
          </p:cNvPr>
          <p:cNvSpPr/>
          <p:nvPr/>
        </p:nvSpPr>
        <p:spPr>
          <a:xfrm>
            <a:off x="265945" y="5716890"/>
            <a:ext cx="11527437" cy="854610"/>
          </a:xfrm>
          <a:prstGeom prst="roundRect">
            <a:avLst>
              <a:gd name="adj" fmla="val 8662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3" name="圆角矩形 48">
            <a:extLst>
              <a:ext uri="{FF2B5EF4-FFF2-40B4-BE49-F238E27FC236}">
                <a16:creationId xmlns:a16="http://schemas.microsoft.com/office/drawing/2014/main" id="{A2928B09-B562-A230-0161-FF5CE8170DFC}"/>
              </a:ext>
            </a:extLst>
          </p:cNvPr>
          <p:cNvSpPr/>
          <p:nvPr/>
        </p:nvSpPr>
        <p:spPr>
          <a:xfrm>
            <a:off x="4903818" y="2144505"/>
            <a:ext cx="1182488" cy="3486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6" name="文本框 155">
            <a:extLst>
              <a:ext uri="{FF2B5EF4-FFF2-40B4-BE49-F238E27FC236}">
                <a16:creationId xmlns:a16="http://schemas.microsoft.com/office/drawing/2014/main" id="{10385F1A-1650-EC13-8612-1E6C0490EB7D}"/>
              </a:ext>
            </a:extLst>
          </p:cNvPr>
          <p:cNvSpPr txBox="1"/>
          <p:nvPr/>
        </p:nvSpPr>
        <p:spPr>
          <a:xfrm>
            <a:off x="5176297" y="2226500"/>
            <a:ext cx="65709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警综平台</a:t>
            </a:r>
          </a:p>
        </p:txBody>
      </p:sp>
      <p:sp>
        <p:nvSpPr>
          <p:cNvPr id="164" name="圆角矩形 55">
            <a:extLst>
              <a:ext uri="{FF2B5EF4-FFF2-40B4-BE49-F238E27FC236}">
                <a16:creationId xmlns:a16="http://schemas.microsoft.com/office/drawing/2014/main" id="{BC7EEB8A-122E-CA07-BBC1-2BFDB36832EF}"/>
              </a:ext>
            </a:extLst>
          </p:cNvPr>
          <p:cNvSpPr/>
          <p:nvPr/>
        </p:nvSpPr>
        <p:spPr>
          <a:xfrm>
            <a:off x="6384976" y="2152462"/>
            <a:ext cx="1582582" cy="3486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5" name="文本框 164">
            <a:extLst>
              <a:ext uri="{FF2B5EF4-FFF2-40B4-BE49-F238E27FC236}">
                <a16:creationId xmlns:a16="http://schemas.microsoft.com/office/drawing/2014/main" id="{85C4F33E-1B24-D4DA-B901-E31FA12ADB34}"/>
              </a:ext>
            </a:extLst>
          </p:cNvPr>
          <p:cNvSpPr txBox="1"/>
          <p:nvPr/>
        </p:nvSpPr>
        <p:spPr>
          <a:xfrm>
            <a:off x="6597060" y="2234457"/>
            <a:ext cx="1158414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接处警平台</a:t>
            </a:r>
          </a:p>
        </p:txBody>
      </p:sp>
      <p:sp>
        <p:nvSpPr>
          <p:cNvPr id="166" name="圆角矩形 64">
            <a:extLst>
              <a:ext uri="{FF2B5EF4-FFF2-40B4-BE49-F238E27FC236}">
                <a16:creationId xmlns:a16="http://schemas.microsoft.com/office/drawing/2014/main" id="{6EF32EC8-DC31-81BF-2AAA-3DCDDE647C90}"/>
              </a:ext>
            </a:extLst>
          </p:cNvPr>
          <p:cNvSpPr/>
          <p:nvPr/>
        </p:nvSpPr>
        <p:spPr>
          <a:xfrm>
            <a:off x="6380349" y="1688208"/>
            <a:ext cx="1582582" cy="3486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7" name="文本框 166">
            <a:extLst>
              <a:ext uri="{FF2B5EF4-FFF2-40B4-BE49-F238E27FC236}">
                <a16:creationId xmlns:a16="http://schemas.microsoft.com/office/drawing/2014/main" id="{E030CBAD-D755-08EE-6ABA-ACBF233D2A2C}"/>
              </a:ext>
            </a:extLst>
          </p:cNvPr>
          <p:cNvSpPr txBox="1"/>
          <p:nvPr/>
        </p:nvSpPr>
        <p:spPr>
          <a:xfrm>
            <a:off x="6667769" y="1770203"/>
            <a:ext cx="100774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情指行平台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F051D4B7-38B9-4236-AE7B-9B5110C4B9CC}"/>
              </a:ext>
            </a:extLst>
          </p:cNvPr>
          <p:cNvGrpSpPr/>
          <p:nvPr/>
        </p:nvGrpSpPr>
        <p:grpSpPr>
          <a:xfrm>
            <a:off x="284287" y="2982645"/>
            <a:ext cx="1967935" cy="2468446"/>
            <a:chOff x="258887" y="2500045"/>
            <a:chExt cx="2706728" cy="2468446"/>
          </a:xfrm>
        </p:grpSpPr>
        <p:sp>
          <p:nvSpPr>
            <p:cNvPr id="17" name="圆角矩形 6">
              <a:extLst>
                <a:ext uri="{FF2B5EF4-FFF2-40B4-BE49-F238E27FC236}">
                  <a16:creationId xmlns:a16="http://schemas.microsoft.com/office/drawing/2014/main" id="{4258ED2F-D84B-AE30-8A01-4F1EF5C18D2A}"/>
                </a:ext>
              </a:extLst>
            </p:cNvPr>
            <p:cNvSpPr/>
            <p:nvPr/>
          </p:nvSpPr>
          <p:spPr>
            <a:xfrm>
              <a:off x="272955" y="2534037"/>
              <a:ext cx="2667527" cy="2434454"/>
            </a:xfrm>
            <a:prstGeom prst="roundRect">
              <a:avLst>
                <a:gd name="adj" fmla="val 5393"/>
              </a:avLst>
            </a:prstGeom>
            <a:solidFill>
              <a:schemeClr val="bg1"/>
            </a:solidFill>
            <a:ln w="12700">
              <a:solidFill>
                <a:schemeClr val="tx2">
                  <a:lumMod val="75000"/>
                  <a:alpha val="30000"/>
                </a:schemeClr>
              </a:solidFill>
              <a:prstDash val="dash"/>
            </a:ln>
            <a:effectLst>
              <a:outerShdw blurRad="228600" dist="63500" dir="5400000" sx="90000" sy="90000" algn="ctr" rotWithShape="0">
                <a:schemeClr val="tx2">
                  <a:lumMod val="75000"/>
                  <a:alpha val="1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8" name="同侧圆角矩形 8">
              <a:extLst>
                <a:ext uri="{FF2B5EF4-FFF2-40B4-BE49-F238E27FC236}">
                  <a16:creationId xmlns:a16="http://schemas.microsoft.com/office/drawing/2014/main" id="{FC7189A3-95CC-9E22-F26E-19AB2D2B5361}"/>
                </a:ext>
              </a:extLst>
            </p:cNvPr>
            <p:cNvSpPr/>
            <p:nvPr/>
          </p:nvSpPr>
          <p:spPr>
            <a:xfrm>
              <a:off x="258887" y="2500045"/>
              <a:ext cx="2706728" cy="393362"/>
            </a:xfrm>
            <a:prstGeom prst="round2SameRect">
              <a:avLst>
                <a:gd name="adj1" fmla="val 30972"/>
                <a:gd name="adj2" fmla="val 0"/>
              </a:avLst>
            </a:prstGeom>
            <a:gradFill flip="none" rotWithShape="1">
              <a:gsLst>
                <a:gs pos="30000">
                  <a:schemeClr val="accent2"/>
                </a:gs>
                <a:gs pos="100000">
                  <a:schemeClr val="accent2">
                    <a:lumMod val="80000"/>
                    <a:lumOff val="20000"/>
                  </a:schemeClr>
                </a:gs>
              </a:gsLst>
              <a:lin ang="13500000" scaled="1"/>
              <a:tileRect/>
            </a:gradFill>
            <a:ln>
              <a:noFill/>
            </a:ln>
            <a:effectLst>
              <a:outerShdw blurRad="381000" dist="190500" dir="5400000" sx="90000" sy="90000" algn="ctr" rotWithShape="0">
                <a:schemeClr val="accent2">
                  <a:alpha val="3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圆角矩形 9">
              <a:extLst>
                <a:ext uri="{FF2B5EF4-FFF2-40B4-BE49-F238E27FC236}">
                  <a16:creationId xmlns:a16="http://schemas.microsoft.com/office/drawing/2014/main" id="{641E4AD4-4FB6-9356-5815-55203BACEA2B}"/>
                </a:ext>
              </a:extLst>
            </p:cNvPr>
            <p:cNvSpPr/>
            <p:nvPr/>
          </p:nvSpPr>
          <p:spPr>
            <a:xfrm>
              <a:off x="410869" y="3066495"/>
              <a:ext cx="2374342" cy="519533"/>
            </a:xfrm>
            <a:prstGeom prst="roundRect">
              <a:avLst>
                <a:gd name="adj" fmla="val 7540"/>
              </a:avLst>
            </a:prstGeom>
            <a:solidFill>
              <a:schemeClr val="bg1"/>
            </a:solidFill>
            <a:ln w="6350">
              <a:solidFill>
                <a:schemeClr val="tx2">
                  <a:lumMod val="75000"/>
                  <a:alpha val="50049"/>
                </a:schemeClr>
              </a:solidFill>
              <a:prstDash val="dash"/>
            </a:ln>
            <a:effectLst>
              <a:outerShdw blurRad="228600" dist="63500" dir="5400000" sx="90000" sy="90000" algn="ctr" rotWithShape="0">
                <a:schemeClr val="tx2">
                  <a:lumMod val="75000"/>
                  <a:alpha val="1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751F041-5A26-D322-08C7-D5CF8242BED8}"/>
                </a:ext>
              </a:extLst>
            </p:cNvPr>
            <p:cNvSpPr txBox="1"/>
            <p:nvPr/>
          </p:nvSpPr>
          <p:spPr>
            <a:xfrm>
              <a:off x="377016" y="2608110"/>
              <a:ext cx="2470472" cy="184666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zh-CN"/>
              </a:defPPr>
              <a:lvl1pPr algn="ctr">
                <a:defRPr kumimoji="1" sz="1600">
                  <a:solidFill>
                    <a:schemeClr val="bg1"/>
                  </a:solidFill>
                  <a:latin typeface="OPPOSans M" pitchFamily="18" charset="-122"/>
                  <a:ea typeface="OPPOSans M" pitchFamily="18" charset="-122"/>
                  <a:cs typeface="OPPOSans M" pitchFamily="18" charset="-122"/>
                </a:defRPr>
              </a:lvl1pPr>
            </a:lstStyle>
            <a:p>
              <a:r>
                <a:rPr lang="zh-CN" altLang="en-US" sz="1200" dirty="0"/>
                <a:t>感知 </a:t>
              </a:r>
              <a:r>
                <a:rPr lang="en-US" altLang="zh-CN" sz="1200" dirty="0"/>
                <a:t>(Perception)</a:t>
              </a:r>
              <a:endParaRPr lang="zh-CN" altLang="en-US" sz="1200" dirty="0"/>
            </a:p>
          </p:txBody>
        </p:sp>
        <p:sp>
          <p:nvSpPr>
            <p:cNvPr id="21" name="圆角矩形 13">
              <a:extLst>
                <a:ext uri="{FF2B5EF4-FFF2-40B4-BE49-F238E27FC236}">
                  <a16:creationId xmlns:a16="http://schemas.microsoft.com/office/drawing/2014/main" id="{2F390257-5272-A548-1B5A-95AEC6181B02}"/>
                </a:ext>
              </a:extLst>
            </p:cNvPr>
            <p:cNvSpPr/>
            <p:nvPr/>
          </p:nvSpPr>
          <p:spPr>
            <a:xfrm>
              <a:off x="410869" y="3682402"/>
              <a:ext cx="2374342" cy="519533"/>
            </a:xfrm>
            <a:prstGeom prst="roundRect">
              <a:avLst>
                <a:gd name="adj" fmla="val 7540"/>
              </a:avLst>
            </a:prstGeom>
            <a:solidFill>
              <a:schemeClr val="bg1"/>
            </a:solidFill>
            <a:ln w="6350">
              <a:solidFill>
                <a:schemeClr val="tx2">
                  <a:lumMod val="75000"/>
                  <a:alpha val="50049"/>
                </a:schemeClr>
              </a:solidFill>
              <a:prstDash val="dash"/>
            </a:ln>
            <a:effectLst>
              <a:outerShdw blurRad="228600" dist="63500" dir="5400000" sx="90000" sy="90000" algn="ctr" rotWithShape="0">
                <a:schemeClr val="tx2">
                  <a:lumMod val="75000"/>
                  <a:alpha val="1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3" name="圆角矩形 15">
              <a:extLst>
                <a:ext uri="{FF2B5EF4-FFF2-40B4-BE49-F238E27FC236}">
                  <a16:creationId xmlns:a16="http://schemas.microsoft.com/office/drawing/2014/main" id="{3BB3B287-A5EA-72F4-D990-9909D3EEA248}"/>
                </a:ext>
              </a:extLst>
            </p:cNvPr>
            <p:cNvSpPr/>
            <p:nvPr/>
          </p:nvSpPr>
          <p:spPr>
            <a:xfrm>
              <a:off x="410869" y="4298309"/>
              <a:ext cx="2374342" cy="519533"/>
            </a:xfrm>
            <a:prstGeom prst="roundRect">
              <a:avLst>
                <a:gd name="adj" fmla="val 7540"/>
              </a:avLst>
            </a:prstGeom>
            <a:solidFill>
              <a:schemeClr val="bg1"/>
            </a:solidFill>
            <a:ln w="6350">
              <a:solidFill>
                <a:schemeClr val="tx2">
                  <a:lumMod val="75000"/>
                  <a:alpha val="50049"/>
                </a:schemeClr>
              </a:solidFill>
              <a:prstDash val="dash"/>
            </a:ln>
            <a:effectLst>
              <a:outerShdw blurRad="228600" dist="63500" dir="5400000" sx="90000" sy="90000" algn="ctr" rotWithShape="0">
                <a:schemeClr val="tx2">
                  <a:lumMod val="75000"/>
                  <a:alpha val="1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71" name="文本框 170">
              <a:extLst>
                <a:ext uri="{FF2B5EF4-FFF2-40B4-BE49-F238E27FC236}">
                  <a16:creationId xmlns:a16="http://schemas.microsoft.com/office/drawing/2014/main" id="{71B3176B-D15F-9952-5599-5B2918807B32}"/>
                </a:ext>
              </a:extLst>
            </p:cNvPr>
            <p:cNvSpPr txBox="1"/>
            <p:nvPr/>
          </p:nvSpPr>
          <p:spPr>
            <a:xfrm>
              <a:off x="1136380" y="3233928"/>
              <a:ext cx="92333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2">
                      <a:lumMod val="50000"/>
                    </a:schemeClr>
                  </a:solidFill>
                  <a:latin typeface="OPPOSans R" pitchFamily="18" charset="-122"/>
                  <a:ea typeface="OPPOSans R" pitchFamily="18" charset="-122"/>
                  <a:cs typeface="OPPOSans R" pitchFamily="18" charset="-122"/>
                </a:rPr>
                <a:t>解析元素布局</a:t>
              </a:r>
            </a:p>
          </p:txBody>
        </p:sp>
        <p:sp>
          <p:nvSpPr>
            <p:cNvPr id="172" name="文本框 171">
              <a:extLst>
                <a:ext uri="{FF2B5EF4-FFF2-40B4-BE49-F238E27FC236}">
                  <a16:creationId xmlns:a16="http://schemas.microsoft.com/office/drawing/2014/main" id="{3513EFE6-FCE1-4D53-84E4-BD8091710839}"/>
                </a:ext>
              </a:extLst>
            </p:cNvPr>
            <p:cNvSpPr txBox="1"/>
            <p:nvPr/>
          </p:nvSpPr>
          <p:spPr>
            <a:xfrm>
              <a:off x="1021574" y="3849835"/>
              <a:ext cx="1162177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kumimoji="1" lang="en-US" altLang="zh-CN" sz="1200" dirty="0">
                  <a:solidFill>
                    <a:schemeClr val="tx2">
                      <a:lumMod val="50000"/>
                    </a:schemeClr>
                  </a:solidFill>
                  <a:latin typeface="OPPOSans R" pitchFamily="18" charset="-122"/>
                  <a:ea typeface="OPPOSans R" pitchFamily="18" charset="-122"/>
                  <a:cs typeface="OPPOSans R" pitchFamily="18" charset="-122"/>
                </a:rPr>
                <a:t>DOM</a:t>
              </a:r>
              <a:r>
                <a:rPr kumimoji="1" lang="zh-CN" altLang="en-US" sz="1200" dirty="0">
                  <a:solidFill>
                    <a:schemeClr val="tx2">
                      <a:lumMod val="50000"/>
                    </a:schemeClr>
                  </a:solidFill>
                  <a:latin typeface="OPPOSans R" pitchFamily="18" charset="-122"/>
                  <a:ea typeface="OPPOSans R" pitchFamily="18" charset="-122"/>
                  <a:cs typeface="OPPOSans R" pitchFamily="18" charset="-122"/>
                </a:rPr>
                <a:t>树精简优化</a:t>
              </a:r>
            </a:p>
          </p:txBody>
        </p:sp>
        <p:sp>
          <p:nvSpPr>
            <p:cNvPr id="173" name="文本框 172">
              <a:extLst>
                <a:ext uri="{FF2B5EF4-FFF2-40B4-BE49-F238E27FC236}">
                  <a16:creationId xmlns:a16="http://schemas.microsoft.com/office/drawing/2014/main" id="{A411B025-2DFB-F6B9-9453-292BA4C04CCF}"/>
                </a:ext>
              </a:extLst>
            </p:cNvPr>
            <p:cNvSpPr txBox="1"/>
            <p:nvPr/>
          </p:nvSpPr>
          <p:spPr>
            <a:xfrm>
              <a:off x="1145604" y="4465742"/>
              <a:ext cx="923330" cy="184666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kumimoji="1" lang="zh-CN" altLang="en-US" sz="1200" dirty="0">
                  <a:solidFill>
                    <a:schemeClr val="tx2">
                      <a:lumMod val="50000"/>
                    </a:schemeClr>
                  </a:solidFill>
                  <a:latin typeface="OPPOSans R" pitchFamily="18" charset="-122"/>
                  <a:ea typeface="OPPOSans R" pitchFamily="18" charset="-122"/>
                  <a:cs typeface="OPPOSans R" pitchFamily="18" charset="-122"/>
                </a:rPr>
                <a:t>元素定位引擎</a:t>
              </a:r>
            </a:p>
          </p:txBody>
        </p:sp>
      </p:grpSp>
      <p:sp>
        <p:nvSpPr>
          <p:cNvPr id="174" name="文本框 173">
            <a:extLst>
              <a:ext uri="{FF2B5EF4-FFF2-40B4-BE49-F238E27FC236}">
                <a16:creationId xmlns:a16="http://schemas.microsoft.com/office/drawing/2014/main" id="{5FA1C3CD-459C-62B8-BF90-9B1D0B6A61EF}"/>
              </a:ext>
            </a:extLst>
          </p:cNvPr>
          <p:cNvSpPr txBox="1"/>
          <p:nvPr/>
        </p:nvSpPr>
        <p:spPr>
          <a:xfrm>
            <a:off x="3498676" y="3680782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解析用户意图</a:t>
            </a: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918A4097-D1CD-57B4-BE3D-D64E7381B27F}"/>
              </a:ext>
            </a:extLst>
          </p:cNvPr>
          <p:cNvSpPr txBox="1"/>
          <p:nvPr/>
        </p:nvSpPr>
        <p:spPr>
          <a:xfrm>
            <a:off x="3042038" y="4217723"/>
            <a:ext cx="615553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多步骤</a:t>
            </a:r>
            <a:br>
              <a:rPr kumimoji="1" lang="en-US" altLang="zh-CN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</a:br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任务规划</a:t>
            </a:r>
            <a:endParaRPr kumimoji="1" lang="en-US" altLang="zh-CN" sz="1200" dirty="0">
              <a:solidFill>
                <a:schemeClr val="tx2">
                  <a:lumMod val="50000"/>
                </a:schemeClr>
              </a:solidFill>
              <a:latin typeface="OPPOSans R" pitchFamily="18" charset="-122"/>
              <a:ea typeface="OPPOSans R" pitchFamily="18" charset="-122"/>
              <a:cs typeface="OPPOSans R" pitchFamily="18" charset="-122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08A9E869-3599-4F01-B13C-F9FCD420F4CB}"/>
              </a:ext>
            </a:extLst>
          </p:cNvPr>
          <p:cNvSpPr txBox="1"/>
          <p:nvPr/>
        </p:nvSpPr>
        <p:spPr>
          <a:xfrm>
            <a:off x="4106692" y="4217723"/>
            <a:ext cx="95613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状态追踪</a:t>
            </a:r>
            <a:br>
              <a:rPr kumimoji="1" lang="en-US" altLang="zh-CN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</a:br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里程碑识别</a:t>
            </a: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4588ED23-1600-9F5C-0758-012746AAA03E}"/>
              </a:ext>
            </a:extLst>
          </p:cNvPr>
          <p:cNvSpPr txBox="1"/>
          <p:nvPr/>
        </p:nvSpPr>
        <p:spPr>
          <a:xfrm>
            <a:off x="3298907" y="4964804"/>
            <a:ext cx="1384995" cy="36933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生成</a:t>
            </a:r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浏览器操作序列</a:t>
            </a:r>
          </a:p>
          <a:p>
            <a:pPr algn="ctr"/>
            <a:endParaRPr kumimoji="1" lang="zh-CN" altLang="en-US" sz="1200" dirty="0">
              <a:solidFill>
                <a:schemeClr val="tx2">
                  <a:lumMod val="50000"/>
                </a:schemeClr>
              </a:solidFill>
              <a:latin typeface="OPPOSans R" pitchFamily="18" charset="-122"/>
              <a:ea typeface="OPPOSans R" pitchFamily="18" charset="-122"/>
              <a:cs typeface="OPPOSans R" pitchFamily="18" charset="-122"/>
            </a:endParaRPr>
          </a:p>
        </p:txBody>
      </p:sp>
      <p:sp>
        <p:nvSpPr>
          <p:cNvPr id="250" name="文本框 249">
            <a:extLst>
              <a:ext uri="{FF2B5EF4-FFF2-40B4-BE49-F238E27FC236}">
                <a16:creationId xmlns:a16="http://schemas.microsoft.com/office/drawing/2014/main" id="{397C4073-77D2-F140-DAD4-FB1073FB4408}"/>
              </a:ext>
            </a:extLst>
          </p:cNvPr>
          <p:cNvSpPr txBox="1"/>
          <p:nvPr/>
        </p:nvSpPr>
        <p:spPr>
          <a:xfrm>
            <a:off x="5387806" y="3906833"/>
            <a:ext cx="184666" cy="983533"/>
          </a:xfrm>
          <a:prstGeom prst="rect">
            <a:avLst/>
          </a:prstGeom>
          <a:noFill/>
        </p:spPr>
        <p:txBody>
          <a:bodyPr vert="eaVert" wrap="squar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生命周期管理</a:t>
            </a:r>
          </a:p>
        </p:txBody>
      </p:sp>
      <p:sp>
        <p:nvSpPr>
          <p:cNvPr id="251" name="文本框 250">
            <a:extLst>
              <a:ext uri="{FF2B5EF4-FFF2-40B4-BE49-F238E27FC236}">
                <a16:creationId xmlns:a16="http://schemas.microsoft.com/office/drawing/2014/main" id="{A615274A-FBE0-F218-AAB0-B58035154BF2}"/>
              </a:ext>
            </a:extLst>
          </p:cNvPr>
          <p:cNvSpPr txBox="1"/>
          <p:nvPr/>
        </p:nvSpPr>
        <p:spPr>
          <a:xfrm>
            <a:off x="6661777" y="3726662"/>
            <a:ext cx="6155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背景知识</a:t>
            </a:r>
          </a:p>
        </p:txBody>
      </p:sp>
      <p:sp>
        <p:nvSpPr>
          <p:cNvPr id="252" name="文本框 251">
            <a:extLst>
              <a:ext uri="{FF2B5EF4-FFF2-40B4-BE49-F238E27FC236}">
                <a16:creationId xmlns:a16="http://schemas.microsoft.com/office/drawing/2014/main" id="{450428F1-118D-6CF6-37EC-2D0C0B74999E}"/>
              </a:ext>
            </a:extLst>
          </p:cNvPr>
          <p:cNvSpPr txBox="1"/>
          <p:nvPr/>
        </p:nvSpPr>
        <p:spPr>
          <a:xfrm>
            <a:off x="7833778" y="3714693"/>
            <a:ext cx="76944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产品说明书</a:t>
            </a:r>
          </a:p>
        </p:txBody>
      </p:sp>
      <p:sp>
        <p:nvSpPr>
          <p:cNvPr id="253" name="文本框 252">
            <a:extLst>
              <a:ext uri="{FF2B5EF4-FFF2-40B4-BE49-F238E27FC236}">
                <a16:creationId xmlns:a16="http://schemas.microsoft.com/office/drawing/2014/main" id="{2C96400D-C2EE-FFCE-86BD-7C0A11B10AF1}"/>
              </a:ext>
            </a:extLst>
          </p:cNvPr>
          <p:cNvSpPr txBox="1"/>
          <p:nvPr/>
        </p:nvSpPr>
        <p:spPr>
          <a:xfrm>
            <a:off x="7132543" y="4342569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已执行的动作</a:t>
            </a:r>
          </a:p>
        </p:txBody>
      </p:sp>
      <p:sp>
        <p:nvSpPr>
          <p:cNvPr id="254" name="文本框 253">
            <a:extLst>
              <a:ext uri="{FF2B5EF4-FFF2-40B4-BE49-F238E27FC236}">
                <a16:creationId xmlns:a16="http://schemas.microsoft.com/office/drawing/2014/main" id="{7819C5BC-7940-3873-75C7-AC3BA2CDDC86}"/>
              </a:ext>
            </a:extLst>
          </p:cNvPr>
          <p:cNvSpPr txBox="1"/>
          <p:nvPr/>
        </p:nvSpPr>
        <p:spPr>
          <a:xfrm>
            <a:off x="7101891" y="4957277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界面当前状态</a:t>
            </a:r>
          </a:p>
        </p:txBody>
      </p:sp>
      <p:sp>
        <p:nvSpPr>
          <p:cNvPr id="255" name="五边形 83">
            <a:extLst>
              <a:ext uri="{FF2B5EF4-FFF2-40B4-BE49-F238E27FC236}">
                <a16:creationId xmlns:a16="http://schemas.microsoft.com/office/drawing/2014/main" id="{BD41ECE1-6230-5DBC-F39D-2E2B744C14DC}"/>
              </a:ext>
            </a:extLst>
          </p:cNvPr>
          <p:cNvSpPr/>
          <p:nvPr/>
        </p:nvSpPr>
        <p:spPr>
          <a:xfrm>
            <a:off x="583502" y="5833332"/>
            <a:ext cx="2932208" cy="576821"/>
          </a:xfrm>
          <a:prstGeom prst="homePlate">
            <a:avLst>
              <a:gd name="adj" fmla="val 17819"/>
            </a:avLst>
          </a:prstGeom>
          <a:gradFill flip="none" rotWithShape="1">
            <a:gsLst>
              <a:gs pos="32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6" name="燕尾形箭头 84">
            <a:extLst>
              <a:ext uri="{FF2B5EF4-FFF2-40B4-BE49-F238E27FC236}">
                <a16:creationId xmlns:a16="http://schemas.microsoft.com/office/drawing/2014/main" id="{D24561A8-8621-FEAA-DEF2-2522FC41E7EF}"/>
              </a:ext>
            </a:extLst>
          </p:cNvPr>
          <p:cNvSpPr/>
          <p:nvPr/>
        </p:nvSpPr>
        <p:spPr>
          <a:xfrm>
            <a:off x="3557752" y="5833332"/>
            <a:ext cx="8085005" cy="576821"/>
          </a:xfrm>
          <a:custGeom>
            <a:avLst/>
            <a:gdLst>
              <a:gd name="connsiteX0" fmla="*/ 0 w 9015037"/>
              <a:gd name="connsiteY0" fmla="*/ 0 h 576821"/>
              <a:gd name="connsiteX1" fmla="*/ 8925509 w 9015037"/>
              <a:gd name="connsiteY1" fmla="*/ 0 h 576821"/>
              <a:gd name="connsiteX2" fmla="*/ 8925509 w 9015037"/>
              <a:gd name="connsiteY2" fmla="*/ 0 h 576821"/>
              <a:gd name="connsiteX3" fmla="*/ 9015037 w 9015037"/>
              <a:gd name="connsiteY3" fmla="*/ 288411 h 576821"/>
              <a:gd name="connsiteX4" fmla="*/ 8925509 w 9015037"/>
              <a:gd name="connsiteY4" fmla="*/ 576821 h 576821"/>
              <a:gd name="connsiteX5" fmla="*/ 8925509 w 9015037"/>
              <a:gd name="connsiteY5" fmla="*/ 576821 h 576821"/>
              <a:gd name="connsiteX6" fmla="*/ 0 w 9015037"/>
              <a:gd name="connsiteY6" fmla="*/ 576821 h 576821"/>
              <a:gd name="connsiteX7" fmla="*/ 89528 w 9015037"/>
              <a:gd name="connsiteY7" fmla="*/ 288411 h 576821"/>
              <a:gd name="connsiteX8" fmla="*/ 0 w 9015037"/>
              <a:gd name="connsiteY8" fmla="*/ 0 h 576821"/>
              <a:gd name="connsiteX0" fmla="*/ 0 w 8925509"/>
              <a:gd name="connsiteY0" fmla="*/ 0 h 576821"/>
              <a:gd name="connsiteX1" fmla="*/ 8925509 w 8925509"/>
              <a:gd name="connsiteY1" fmla="*/ 0 h 576821"/>
              <a:gd name="connsiteX2" fmla="*/ 8925509 w 8925509"/>
              <a:gd name="connsiteY2" fmla="*/ 0 h 576821"/>
              <a:gd name="connsiteX3" fmla="*/ 8925096 w 8925509"/>
              <a:gd name="connsiteY3" fmla="*/ 303401 h 576821"/>
              <a:gd name="connsiteX4" fmla="*/ 8925509 w 8925509"/>
              <a:gd name="connsiteY4" fmla="*/ 576821 h 576821"/>
              <a:gd name="connsiteX5" fmla="*/ 8925509 w 8925509"/>
              <a:gd name="connsiteY5" fmla="*/ 576821 h 576821"/>
              <a:gd name="connsiteX6" fmla="*/ 0 w 8925509"/>
              <a:gd name="connsiteY6" fmla="*/ 576821 h 576821"/>
              <a:gd name="connsiteX7" fmla="*/ 89528 w 8925509"/>
              <a:gd name="connsiteY7" fmla="*/ 288411 h 576821"/>
              <a:gd name="connsiteX8" fmla="*/ 0 w 8925509"/>
              <a:gd name="connsiteY8" fmla="*/ 0 h 576821"/>
              <a:gd name="connsiteX0" fmla="*/ 0 w 8925509"/>
              <a:gd name="connsiteY0" fmla="*/ 0 h 576821"/>
              <a:gd name="connsiteX1" fmla="*/ 8925509 w 8925509"/>
              <a:gd name="connsiteY1" fmla="*/ 0 h 576821"/>
              <a:gd name="connsiteX2" fmla="*/ 8925509 w 8925509"/>
              <a:gd name="connsiteY2" fmla="*/ 0 h 576821"/>
              <a:gd name="connsiteX3" fmla="*/ 8925096 w 8925509"/>
              <a:gd name="connsiteY3" fmla="*/ 281176 h 576821"/>
              <a:gd name="connsiteX4" fmla="*/ 8925509 w 8925509"/>
              <a:gd name="connsiteY4" fmla="*/ 576821 h 576821"/>
              <a:gd name="connsiteX5" fmla="*/ 8925509 w 8925509"/>
              <a:gd name="connsiteY5" fmla="*/ 576821 h 576821"/>
              <a:gd name="connsiteX6" fmla="*/ 0 w 8925509"/>
              <a:gd name="connsiteY6" fmla="*/ 576821 h 576821"/>
              <a:gd name="connsiteX7" fmla="*/ 89528 w 8925509"/>
              <a:gd name="connsiteY7" fmla="*/ 288411 h 576821"/>
              <a:gd name="connsiteX8" fmla="*/ 0 w 8925509"/>
              <a:gd name="connsiteY8" fmla="*/ 0 h 5768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925509" h="576821">
                <a:moveTo>
                  <a:pt x="0" y="0"/>
                </a:moveTo>
                <a:lnTo>
                  <a:pt x="8925509" y="0"/>
                </a:lnTo>
                <a:lnTo>
                  <a:pt x="8925509" y="0"/>
                </a:lnTo>
                <a:cubicBezTo>
                  <a:pt x="8925371" y="101134"/>
                  <a:pt x="8925234" y="180042"/>
                  <a:pt x="8925096" y="281176"/>
                </a:cubicBezTo>
                <a:cubicBezTo>
                  <a:pt x="8925234" y="372316"/>
                  <a:pt x="8925371" y="485681"/>
                  <a:pt x="8925509" y="576821"/>
                </a:cubicBezTo>
                <a:lnTo>
                  <a:pt x="8925509" y="576821"/>
                </a:lnTo>
                <a:lnTo>
                  <a:pt x="0" y="576821"/>
                </a:lnTo>
                <a:lnTo>
                  <a:pt x="89528" y="288411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61000">
                <a:schemeClr val="accent1"/>
              </a:gs>
              <a:gs pos="4000">
                <a:schemeClr val="accent1">
                  <a:lumMod val="80280"/>
                  <a:lumOff val="19720"/>
                </a:schemeClr>
              </a:gs>
            </a:gsLst>
            <a:lin ang="0" scaled="0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7" name="文本框 256">
            <a:extLst>
              <a:ext uri="{FF2B5EF4-FFF2-40B4-BE49-F238E27FC236}">
                <a16:creationId xmlns:a16="http://schemas.microsoft.com/office/drawing/2014/main" id="{89B10D1B-7DC3-F9C9-A7A0-E5164BBDACBD}"/>
              </a:ext>
            </a:extLst>
          </p:cNvPr>
          <p:cNvSpPr txBox="1"/>
          <p:nvPr/>
        </p:nvSpPr>
        <p:spPr>
          <a:xfrm>
            <a:off x="1053953" y="5998760"/>
            <a:ext cx="1867924" cy="2366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kumimoji="1" lang="zh-CN" altLang="en-US" sz="1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大模型</a:t>
            </a:r>
          </a:p>
        </p:txBody>
      </p:sp>
      <p:sp>
        <p:nvSpPr>
          <p:cNvPr id="258" name="文本框 257">
            <a:extLst>
              <a:ext uri="{FF2B5EF4-FFF2-40B4-BE49-F238E27FC236}">
                <a16:creationId xmlns:a16="http://schemas.microsoft.com/office/drawing/2014/main" id="{B5A1A9D6-A290-B946-FC0A-12124410067C}"/>
              </a:ext>
            </a:extLst>
          </p:cNvPr>
          <p:cNvSpPr txBox="1"/>
          <p:nvPr/>
        </p:nvSpPr>
        <p:spPr>
          <a:xfrm>
            <a:off x="3833268" y="5998760"/>
            <a:ext cx="7673660" cy="2366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基于 </a:t>
            </a:r>
            <a:r>
              <a:rPr lang="en-US" altLang="zh-CN" sz="1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CDP (Chrome </a:t>
            </a:r>
            <a:r>
              <a:rPr lang="en-US" altLang="zh-CN" sz="1400" dirty="0" err="1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DevTools</a:t>
            </a:r>
            <a:r>
              <a:rPr lang="en-US" altLang="zh-CN" sz="1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 Protocol) </a:t>
            </a:r>
            <a:r>
              <a:rPr lang="zh-CN" altLang="en-US" sz="14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的高性能浏览器调度与执行平台</a:t>
            </a:r>
            <a:endParaRPr kumimoji="1" lang="zh-CN" altLang="en-US" sz="1400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268" name="上箭头 101">
            <a:extLst>
              <a:ext uri="{FF2B5EF4-FFF2-40B4-BE49-F238E27FC236}">
                <a16:creationId xmlns:a16="http://schemas.microsoft.com/office/drawing/2014/main" id="{C0D17497-7DF5-4E8E-B07C-531EE959BE75}"/>
              </a:ext>
            </a:extLst>
          </p:cNvPr>
          <p:cNvSpPr/>
          <p:nvPr/>
        </p:nvSpPr>
        <p:spPr>
          <a:xfrm>
            <a:off x="5848910" y="5407269"/>
            <a:ext cx="402394" cy="349968"/>
          </a:xfrm>
          <a:prstGeom prst="upArrow">
            <a:avLst>
              <a:gd name="adj1" fmla="val 58333"/>
              <a:gd name="adj2" fmla="val 50000"/>
            </a:avLst>
          </a:prstGeom>
          <a:gradFill>
            <a:gsLst>
              <a:gs pos="61000">
                <a:schemeClr val="accent1"/>
              </a:gs>
              <a:gs pos="0">
                <a:schemeClr val="accent1">
                  <a:lumMod val="40000"/>
                  <a:lumOff val="60000"/>
                  <a:alpha val="0"/>
                </a:schemeClr>
              </a:gs>
            </a:gsLst>
            <a:lin ang="16200000" scaled="0"/>
          </a:gradFill>
          <a:ln w="6350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8" name="文本占位符 5">
            <a:extLst>
              <a:ext uri="{FF2B5EF4-FFF2-40B4-BE49-F238E27FC236}">
                <a16:creationId xmlns:a16="http://schemas.microsoft.com/office/drawing/2014/main" id="{C3BF55DA-E4B9-48CD-DF78-3D6001016C84}"/>
              </a:ext>
            </a:extLst>
          </p:cNvPr>
          <p:cNvSpPr txBox="1">
            <a:spLocks/>
          </p:cNvSpPr>
          <p:nvPr/>
        </p:nvSpPr>
        <p:spPr>
          <a:xfrm>
            <a:off x="2734270" y="406314"/>
            <a:ext cx="6489343" cy="398571"/>
          </a:xfrm>
          <a:prstGeom prst="rect">
            <a:avLst/>
          </a:prstGeom>
        </p:spPr>
        <p:txBody>
          <a:bodyPr/>
          <a:lstStyle>
            <a:defPPr>
              <a:defRPr lang="zh-CN"/>
            </a:defPPr>
            <a:lvl1pPr indent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>
                <a:solidFill>
                  <a:schemeClr val="accent1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 M" panose="00020600040101010101" pitchFamily="18" charset="-122"/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/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/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altLang="zh-CN" sz="2800" dirty="0">
                <a:solidFill>
                  <a:schemeClr val="tx1"/>
                </a:solidFill>
                <a:latin typeface="OPPOSans B" panose="00020600040101010101" pitchFamily="18" charset="-122"/>
                <a:ea typeface="OPPOSans B" panose="00020600040101010101" pitchFamily="18" charset="-122"/>
              </a:rPr>
              <a:t>AI</a:t>
            </a:r>
            <a:r>
              <a:rPr lang="zh-CN" altLang="en-US" sz="2800" dirty="0">
                <a:solidFill>
                  <a:schemeClr val="tx1"/>
                </a:solidFill>
                <a:latin typeface="OPPOSans B" panose="00020600040101010101" pitchFamily="18" charset="-122"/>
                <a:ea typeface="OPPOSans B" panose="00020600040101010101" pitchFamily="18" charset="-122"/>
              </a:rPr>
              <a:t>驱动的浏览器自动化与任务执行框架</a:t>
            </a:r>
          </a:p>
        </p:txBody>
      </p:sp>
      <p:sp>
        <p:nvSpPr>
          <p:cNvPr id="9" name="灯片编号占位符 7">
            <a:extLst>
              <a:ext uri="{FF2B5EF4-FFF2-40B4-BE49-F238E27FC236}">
                <a16:creationId xmlns:a16="http://schemas.microsoft.com/office/drawing/2014/main" id="{57266397-8D7E-76D3-BAFC-51C202E6EEEE}"/>
              </a:ext>
            </a:extLst>
          </p:cNvPr>
          <p:cNvSpPr txBox="1">
            <a:spLocks/>
          </p:cNvSpPr>
          <p:nvPr/>
        </p:nvSpPr>
        <p:spPr>
          <a:xfrm>
            <a:off x="346017" y="419890"/>
            <a:ext cx="2302343" cy="430887"/>
          </a:xfrm>
          <a:prstGeom prst="rect">
            <a:avLst/>
          </a:prstGeom>
          <a:noFill/>
        </p:spPr>
        <p:txBody>
          <a:bodyPr vert="horz" wrap="square" lIns="0" tIns="0" rIns="0" bIns="0" rtlCol="0" anchor="ctr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lang="en-US" altLang="zh-CN" sz="3400" kern="1200" smtClean="0">
                <a:solidFill>
                  <a:schemeClr val="tx2"/>
                </a:solidFill>
                <a:latin typeface="OPPOSans H" panose="00020600040101010101" pitchFamily="18" charset="-122"/>
                <a:ea typeface="OPPOSans H" panose="00020600040101010101" pitchFamily="18" charset="-122"/>
                <a:cs typeface="OPPOSans H" panose="00020600040101010101" pitchFamily="18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OPPOSans B" panose="00020600040101010101" pitchFamily="18" charset="-122"/>
                <a:ea typeface="OPPOSans B" panose="00020600040101010101" pitchFamily="18" charset="-122"/>
                <a:cs typeface="OPPOSans B" panose="00020600040101010101" pitchFamily="18" charset="-122"/>
              </a:rPr>
              <a:t>Browser Use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OPPOSans B" panose="00020600040101010101" pitchFamily="18" charset="-122"/>
              <a:ea typeface="OPPOSans B" panose="00020600040101010101" pitchFamily="18" charset="-122"/>
              <a:cs typeface="OPPOSans B" panose="00020600040101010101" pitchFamily="18" charset="-122"/>
            </a:endParaRPr>
          </a:p>
        </p:txBody>
      </p:sp>
      <p:cxnSp>
        <p:nvCxnSpPr>
          <p:cNvPr id="10" name="直线连接符 4">
            <a:extLst>
              <a:ext uri="{FF2B5EF4-FFF2-40B4-BE49-F238E27FC236}">
                <a16:creationId xmlns:a16="http://schemas.microsoft.com/office/drawing/2014/main" id="{D490F295-04A8-8E9F-9FF9-9E85BC67FF9C}"/>
              </a:ext>
            </a:extLst>
          </p:cNvPr>
          <p:cNvCxnSpPr>
            <a:cxnSpLocks/>
          </p:cNvCxnSpPr>
          <p:nvPr/>
        </p:nvCxnSpPr>
        <p:spPr>
          <a:xfrm>
            <a:off x="2648362" y="469305"/>
            <a:ext cx="0" cy="311649"/>
          </a:xfrm>
          <a:prstGeom prst="line">
            <a:avLst/>
          </a:prstGeom>
          <a:noFill/>
          <a:ln w="38100" cap="flat" cmpd="sng" algn="ctr">
            <a:solidFill>
              <a:schemeClr val="accent1"/>
            </a:solidFill>
            <a:prstDash val="solid"/>
            <a:miter lim="800000"/>
          </a:ln>
          <a:effectLst/>
        </p:spPr>
      </p:cxn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4B4A79C4-6800-A793-2A86-0B70CBDF7D73}"/>
              </a:ext>
            </a:extLst>
          </p:cNvPr>
          <p:cNvGrpSpPr/>
          <p:nvPr/>
        </p:nvGrpSpPr>
        <p:grpSpPr>
          <a:xfrm flipV="1">
            <a:off x="10970102" y="509622"/>
            <a:ext cx="616224" cy="182198"/>
            <a:chOff x="11119836" y="579926"/>
            <a:chExt cx="643372" cy="190224"/>
          </a:xfrm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1EE643CE-6E01-2772-0EF3-B5CEA3D3183C}"/>
                </a:ext>
              </a:extLst>
            </p:cNvPr>
            <p:cNvSpPr/>
            <p:nvPr/>
          </p:nvSpPr>
          <p:spPr>
            <a:xfrm>
              <a:off x="11119836" y="579926"/>
              <a:ext cx="190224" cy="190224"/>
            </a:xfrm>
            <a:prstGeom prst="roundRect">
              <a:avLst>
                <a:gd name="adj" fmla="val 7319"/>
              </a:avLst>
            </a:prstGeom>
            <a:ln>
              <a:noFill/>
            </a:ln>
            <a:effectLst>
              <a:outerShdw blurRad="254000" dist="63500" dir="2700000" sx="102000" sy="102000" algn="tl" rotWithShape="0">
                <a:schemeClr val="accent1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6239D675-96F9-C205-E485-46D96FB79685}"/>
                </a:ext>
              </a:extLst>
            </p:cNvPr>
            <p:cNvSpPr/>
            <p:nvPr/>
          </p:nvSpPr>
          <p:spPr>
            <a:xfrm>
              <a:off x="11346410" y="579926"/>
              <a:ext cx="190224" cy="190224"/>
            </a:xfrm>
            <a:prstGeom prst="roundRect">
              <a:avLst>
                <a:gd name="adj" fmla="val 9410"/>
              </a:avLst>
            </a:prstGeom>
            <a:solidFill>
              <a:schemeClr val="accent2"/>
            </a:solidFill>
            <a:ln>
              <a:noFill/>
            </a:ln>
            <a:effectLst>
              <a:outerShdw blurRad="254000" dist="63500" dir="2700000" sx="102000" sy="102000" algn="tl" rotWithShape="0">
                <a:schemeClr val="accent2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1FB57F89-A4DA-28FA-98E2-FCC587082866}"/>
                </a:ext>
              </a:extLst>
            </p:cNvPr>
            <p:cNvSpPr/>
            <p:nvPr/>
          </p:nvSpPr>
          <p:spPr>
            <a:xfrm>
              <a:off x="11572984" y="579926"/>
              <a:ext cx="190224" cy="190224"/>
            </a:xfrm>
            <a:prstGeom prst="roundRect">
              <a:avLst>
                <a:gd name="adj" fmla="val 10456"/>
              </a:avLst>
            </a:prstGeom>
            <a:solidFill>
              <a:schemeClr val="accent3"/>
            </a:solidFill>
            <a:ln>
              <a:noFill/>
            </a:ln>
            <a:effectLst>
              <a:outerShdw blurRad="254000" dist="63500" dir="2700000" sx="102000" sy="102000" algn="tl" rotWithShape="0">
                <a:schemeClr val="accent3"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1" name="圆角矩形 28">
            <a:extLst>
              <a:ext uri="{FF2B5EF4-FFF2-40B4-BE49-F238E27FC236}">
                <a16:creationId xmlns:a16="http://schemas.microsoft.com/office/drawing/2014/main" id="{7823B242-B775-4285-A14A-B445A80C68D1}"/>
              </a:ext>
            </a:extLst>
          </p:cNvPr>
          <p:cNvSpPr/>
          <p:nvPr/>
        </p:nvSpPr>
        <p:spPr>
          <a:xfrm>
            <a:off x="9145181" y="3012920"/>
            <a:ext cx="2667527" cy="2434454"/>
          </a:xfrm>
          <a:prstGeom prst="roundRect">
            <a:avLst>
              <a:gd name="adj" fmla="val 5393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2" name="同侧圆角矩形 29">
            <a:extLst>
              <a:ext uri="{FF2B5EF4-FFF2-40B4-BE49-F238E27FC236}">
                <a16:creationId xmlns:a16="http://schemas.microsoft.com/office/drawing/2014/main" id="{077109C5-C4DC-4F7F-99BD-22805E0DED44}"/>
              </a:ext>
            </a:extLst>
          </p:cNvPr>
          <p:cNvSpPr/>
          <p:nvPr/>
        </p:nvSpPr>
        <p:spPr>
          <a:xfrm>
            <a:off x="9131113" y="2978928"/>
            <a:ext cx="2706728" cy="393362"/>
          </a:xfrm>
          <a:prstGeom prst="round2SameRect">
            <a:avLst>
              <a:gd name="adj1" fmla="val 30972"/>
              <a:gd name="adj2" fmla="val 0"/>
            </a:avLst>
          </a:prstGeom>
          <a:gradFill flip="none" rotWithShape="1">
            <a:gsLst>
              <a:gs pos="30000">
                <a:schemeClr val="accent2"/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3" name="圆角矩形 30">
            <a:extLst>
              <a:ext uri="{FF2B5EF4-FFF2-40B4-BE49-F238E27FC236}">
                <a16:creationId xmlns:a16="http://schemas.microsoft.com/office/drawing/2014/main" id="{3F3BC629-CCCD-4EE9-919F-098D0E4F21A8}"/>
              </a:ext>
            </a:extLst>
          </p:cNvPr>
          <p:cNvSpPr/>
          <p:nvPr/>
        </p:nvSpPr>
        <p:spPr>
          <a:xfrm>
            <a:off x="9283095" y="3545378"/>
            <a:ext cx="1117904" cy="519533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06A97EB9-EA8B-4C70-A5F3-1204E3BE7896}"/>
              </a:ext>
            </a:extLst>
          </p:cNvPr>
          <p:cNvSpPr txBox="1"/>
          <p:nvPr/>
        </p:nvSpPr>
        <p:spPr>
          <a:xfrm>
            <a:off x="9796899" y="3083276"/>
            <a:ext cx="1375156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60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zh-CN" altLang="en-US" sz="1200" dirty="0"/>
              <a:t>行动 </a:t>
            </a:r>
            <a:r>
              <a:rPr lang="en-US" altLang="zh-CN" sz="1200" dirty="0"/>
              <a:t>(Action)</a:t>
            </a:r>
            <a:endParaRPr lang="zh-CN" altLang="en-US" sz="1200" dirty="0"/>
          </a:p>
        </p:txBody>
      </p:sp>
      <p:sp>
        <p:nvSpPr>
          <p:cNvPr id="85" name="圆角矩形 32">
            <a:extLst>
              <a:ext uri="{FF2B5EF4-FFF2-40B4-BE49-F238E27FC236}">
                <a16:creationId xmlns:a16="http://schemas.microsoft.com/office/drawing/2014/main" id="{0CADD711-389B-42A8-A84B-EB15F1732471}"/>
              </a:ext>
            </a:extLst>
          </p:cNvPr>
          <p:cNvSpPr/>
          <p:nvPr/>
        </p:nvSpPr>
        <p:spPr>
          <a:xfrm>
            <a:off x="9283095" y="4161285"/>
            <a:ext cx="2374342" cy="519533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6" name="圆角矩形 33">
            <a:extLst>
              <a:ext uri="{FF2B5EF4-FFF2-40B4-BE49-F238E27FC236}">
                <a16:creationId xmlns:a16="http://schemas.microsoft.com/office/drawing/2014/main" id="{36F85990-D9A9-467A-95A5-AF71FFDDAE33}"/>
              </a:ext>
            </a:extLst>
          </p:cNvPr>
          <p:cNvSpPr/>
          <p:nvPr/>
        </p:nvSpPr>
        <p:spPr>
          <a:xfrm>
            <a:off x="9283095" y="4777192"/>
            <a:ext cx="2374342" cy="519533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7" name="圆角矩形 36">
            <a:extLst>
              <a:ext uri="{FF2B5EF4-FFF2-40B4-BE49-F238E27FC236}">
                <a16:creationId xmlns:a16="http://schemas.microsoft.com/office/drawing/2014/main" id="{E4279D0C-F151-4D03-88CE-9CE53A85F9AC}"/>
              </a:ext>
            </a:extLst>
          </p:cNvPr>
          <p:cNvSpPr/>
          <p:nvPr/>
        </p:nvSpPr>
        <p:spPr>
          <a:xfrm>
            <a:off x="10539533" y="3545378"/>
            <a:ext cx="1117904" cy="519533"/>
          </a:xfrm>
          <a:prstGeom prst="roundRect">
            <a:avLst>
              <a:gd name="adj" fmla="val 7540"/>
            </a:avLst>
          </a:prstGeom>
          <a:solidFill>
            <a:schemeClr val="bg1"/>
          </a:solidFill>
          <a:ln w="6350">
            <a:solidFill>
              <a:schemeClr val="tx2">
                <a:lumMod val="75000"/>
                <a:alpha val="50049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99B76766-A447-46DA-8AF2-7F60C3B18BF8}"/>
              </a:ext>
            </a:extLst>
          </p:cNvPr>
          <p:cNvSpPr txBox="1"/>
          <p:nvPr/>
        </p:nvSpPr>
        <p:spPr>
          <a:xfrm>
            <a:off x="9531120" y="3712811"/>
            <a:ext cx="6155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进入网页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6C23B7AA-590F-4FEF-A0D5-DEA8E5429C34}"/>
              </a:ext>
            </a:extLst>
          </p:cNvPr>
          <p:cNvSpPr txBox="1"/>
          <p:nvPr/>
        </p:nvSpPr>
        <p:spPr>
          <a:xfrm>
            <a:off x="10780063" y="3700842"/>
            <a:ext cx="615553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点击按钮</a:t>
            </a:r>
          </a:p>
        </p:txBody>
      </p:sp>
      <p:sp>
        <p:nvSpPr>
          <p:cNvPr id="90" name="文本框 89">
            <a:extLst>
              <a:ext uri="{FF2B5EF4-FFF2-40B4-BE49-F238E27FC236}">
                <a16:creationId xmlns:a16="http://schemas.microsoft.com/office/drawing/2014/main" id="{D83F761B-ADAC-4AED-B61D-F4EB682623B3}"/>
              </a:ext>
            </a:extLst>
          </p:cNvPr>
          <p:cNvSpPr txBox="1"/>
          <p:nvPr/>
        </p:nvSpPr>
        <p:spPr>
          <a:xfrm>
            <a:off x="10001887" y="4328718"/>
            <a:ext cx="923330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输入指定文本</a:t>
            </a:r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5400A33A-86FE-4E7D-8962-78EAF6DFF72F}"/>
              </a:ext>
            </a:extLst>
          </p:cNvPr>
          <p:cNvSpPr txBox="1"/>
          <p:nvPr/>
        </p:nvSpPr>
        <p:spPr>
          <a:xfrm>
            <a:off x="10048176" y="4943426"/>
            <a:ext cx="769441" cy="18466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tx2">
                    <a:lumMod val="50000"/>
                  </a:schemeClr>
                </a:solidFill>
                <a:latin typeface="OPPOSans R" pitchFamily="18" charset="-122"/>
                <a:ea typeface="OPPOSans R" pitchFamily="18" charset="-122"/>
                <a:cs typeface="OPPOSans R" pitchFamily="18" charset="-122"/>
              </a:rPr>
              <a:t>切换标签页</a:t>
            </a:r>
          </a:p>
        </p:txBody>
      </p:sp>
      <p:sp>
        <p:nvSpPr>
          <p:cNvPr id="94" name="同侧圆角矩形 17">
            <a:extLst>
              <a:ext uri="{FF2B5EF4-FFF2-40B4-BE49-F238E27FC236}">
                <a16:creationId xmlns:a16="http://schemas.microsoft.com/office/drawing/2014/main" id="{27C5FFF8-74A7-4DE9-81A6-08FC4F86050A}"/>
              </a:ext>
            </a:extLst>
          </p:cNvPr>
          <p:cNvSpPr/>
          <p:nvPr/>
        </p:nvSpPr>
        <p:spPr>
          <a:xfrm>
            <a:off x="4480609" y="1185197"/>
            <a:ext cx="3973541" cy="393362"/>
          </a:xfrm>
          <a:prstGeom prst="round2SameRect">
            <a:avLst>
              <a:gd name="adj1" fmla="val 30972"/>
              <a:gd name="adj2" fmla="val 0"/>
            </a:avLst>
          </a:prstGeom>
          <a:gradFill flip="none" rotWithShape="1">
            <a:gsLst>
              <a:gs pos="30000">
                <a:schemeClr val="accent2"/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AE20D4F3-9BDE-4A86-9D9F-45FBE9126958}"/>
              </a:ext>
            </a:extLst>
          </p:cNvPr>
          <p:cNvSpPr txBox="1"/>
          <p:nvPr/>
        </p:nvSpPr>
        <p:spPr>
          <a:xfrm>
            <a:off x="5365727" y="1289545"/>
            <a:ext cx="21120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60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zh-CN" altLang="en-US" sz="1200" dirty="0"/>
              <a:t>业务系统</a:t>
            </a:r>
          </a:p>
        </p:txBody>
      </p:sp>
      <p:sp>
        <p:nvSpPr>
          <p:cNvPr id="96" name="圆角矩形 1">
            <a:extLst>
              <a:ext uri="{FF2B5EF4-FFF2-40B4-BE49-F238E27FC236}">
                <a16:creationId xmlns:a16="http://schemas.microsoft.com/office/drawing/2014/main" id="{9627E12C-568A-46E2-9F72-7D4DA8C430A1}"/>
              </a:ext>
            </a:extLst>
          </p:cNvPr>
          <p:cNvSpPr/>
          <p:nvPr/>
        </p:nvSpPr>
        <p:spPr>
          <a:xfrm>
            <a:off x="331556" y="1501379"/>
            <a:ext cx="3948408" cy="1154559"/>
          </a:xfrm>
          <a:prstGeom prst="roundRect">
            <a:avLst>
              <a:gd name="adj" fmla="val 8662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7" name="圆角矩形 37">
            <a:extLst>
              <a:ext uri="{FF2B5EF4-FFF2-40B4-BE49-F238E27FC236}">
                <a16:creationId xmlns:a16="http://schemas.microsoft.com/office/drawing/2014/main" id="{DAF9C19F-D332-482C-9AEF-81F06C1C9774}"/>
              </a:ext>
            </a:extLst>
          </p:cNvPr>
          <p:cNvSpPr/>
          <p:nvPr/>
        </p:nvSpPr>
        <p:spPr>
          <a:xfrm>
            <a:off x="663373" y="1693483"/>
            <a:ext cx="3358625" cy="3486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id="{0900DB80-F425-4C7E-B278-596F013AEE82}"/>
              </a:ext>
            </a:extLst>
          </p:cNvPr>
          <p:cNvSpPr txBox="1"/>
          <p:nvPr/>
        </p:nvSpPr>
        <p:spPr>
          <a:xfrm>
            <a:off x="838801" y="1790392"/>
            <a:ext cx="2994467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在情指平台比对该嫌疑人的轨迹信息</a:t>
            </a:r>
          </a:p>
        </p:txBody>
      </p:sp>
      <p:sp>
        <p:nvSpPr>
          <p:cNvPr id="99" name="圆角矩形 48">
            <a:extLst>
              <a:ext uri="{FF2B5EF4-FFF2-40B4-BE49-F238E27FC236}">
                <a16:creationId xmlns:a16="http://schemas.microsoft.com/office/drawing/2014/main" id="{3239B386-40F3-4053-8016-25505FDED693}"/>
              </a:ext>
            </a:extLst>
          </p:cNvPr>
          <p:cNvSpPr/>
          <p:nvPr/>
        </p:nvSpPr>
        <p:spPr>
          <a:xfrm>
            <a:off x="663373" y="2150683"/>
            <a:ext cx="3358625" cy="3486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64F72ADB-024C-436B-B49A-08B47624596E}"/>
              </a:ext>
            </a:extLst>
          </p:cNvPr>
          <p:cNvSpPr txBox="1"/>
          <p:nvPr/>
        </p:nvSpPr>
        <p:spPr>
          <a:xfrm>
            <a:off x="935853" y="2232678"/>
            <a:ext cx="285695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2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在视综平台查找昨天下午</a:t>
            </a:r>
            <a:r>
              <a:rPr kumimoji="1" lang="en-US" altLang="zh-CN" sz="12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2</a:t>
            </a:r>
            <a:r>
              <a:rPr kumimoji="1" lang="zh-CN" altLang="en-US" sz="12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点的红色轿车</a:t>
            </a:r>
          </a:p>
        </p:txBody>
      </p:sp>
      <p:sp>
        <p:nvSpPr>
          <p:cNvPr id="105" name="同侧圆角矩形 17">
            <a:extLst>
              <a:ext uri="{FF2B5EF4-FFF2-40B4-BE49-F238E27FC236}">
                <a16:creationId xmlns:a16="http://schemas.microsoft.com/office/drawing/2014/main" id="{9D6F577A-C264-4031-8DB8-FD7F3C4B85DF}"/>
              </a:ext>
            </a:extLst>
          </p:cNvPr>
          <p:cNvSpPr/>
          <p:nvPr/>
        </p:nvSpPr>
        <p:spPr>
          <a:xfrm>
            <a:off x="316365" y="1197725"/>
            <a:ext cx="3973541" cy="393362"/>
          </a:xfrm>
          <a:prstGeom prst="round2SameRect">
            <a:avLst>
              <a:gd name="adj1" fmla="val 30972"/>
              <a:gd name="adj2" fmla="val 0"/>
            </a:avLst>
          </a:prstGeom>
          <a:gradFill flip="none" rotWithShape="1">
            <a:gsLst>
              <a:gs pos="30000">
                <a:schemeClr val="accent2"/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92FC37F6-4F19-456E-8DD8-DB57CDF1F7B6}"/>
              </a:ext>
            </a:extLst>
          </p:cNvPr>
          <p:cNvSpPr txBox="1"/>
          <p:nvPr/>
        </p:nvSpPr>
        <p:spPr>
          <a:xfrm>
            <a:off x="1201483" y="1302073"/>
            <a:ext cx="2112070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60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zh-CN" altLang="en-US" sz="1200" dirty="0"/>
              <a:t>用户输入</a:t>
            </a:r>
          </a:p>
        </p:txBody>
      </p:sp>
      <p:sp>
        <p:nvSpPr>
          <p:cNvPr id="107" name="圆角矩形 1">
            <a:extLst>
              <a:ext uri="{FF2B5EF4-FFF2-40B4-BE49-F238E27FC236}">
                <a16:creationId xmlns:a16="http://schemas.microsoft.com/office/drawing/2014/main" id="{5A12F0C3-4F22-4298-8419-0091335E3971}"/>
              </a:ext>
            </a:extLst>
          </p:cNvPr>
          <p:cNvSpPr/>
          <p:nvPr/>
        </p:nvSpPr>
        <p:spPr>
          <a:xfrm>
            <a:off x="8666234" y="1496323"/>
            <a:ext cx="3145978" cy="1154559"/>
          </a:xfrm>
          <a:prstGeom prst="roundRect">
            <a:avLst>
              <a:gd name="adj" fmla="val 8662"/>
            </a:avLst>
          </a:prstGeom>
          <a:solidFill>
            <a:schemeClr val="bg1"/>
          </a:solidFill>
          <a:ln w="12700">
            <a:solidFill>
              <a:schemeClr val="tx2">
                <a:lumMod val="75000"/>
                <a:alpha val="30000"/>
              </a:schemeClr>
            </a:solidFill>
            <a:prstDash val="dash"/>
          </a:ln>
          <a:effectLst>
            <a:outerShdw blurRad="228600" dist="63500" dir="5400000" sx="90000" sy="90000" algn="ctr" rotWithShape="0">
              <a:schemeClr val="tx2">
                <a:lumMod val="75000"/>
                <a:alpha val="1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2" name="圆角矩形 55">
            <a:extLst>
              <a:ext uri="{FF2B5EF4-FFF2-40B4-BE49-F238E27FC236}">
                <a16:creationId xmlns:a16="http://schemas.microsoft.com/office/drawing/2014/main" id="{1EAE42C3-39E1-490A-8D7E-15E32AF23E5D}"/>
              </a:ext>
            </a:extLst>
          </p:cNvPr>
          <p:cNvSpPr/>
          <p:nvPr/>
        </p:nvSpPr>
        <p:spPr>
          <a:xfrm>
            <a:off x="8955801" y="2153584"/>
            <a:ext cx="2642958" cy="3486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668F6A71-82F5-4A81-AA96-D059B69F07F3}"/>
              </a:ext>
            </a:extLst>
          </p:cNvPr>
          <p:cNvSpPr txBox="1"/>
          <p:nvPr/>
        </p:nvSpPr>
        <p:spPr>
          <a:xfrm>
            <a:off x="9117654" y="2248121"/>
            <a:ext cx="2369952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200" dirty="0" err="1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node.click</a:t>
            </a:r>
            <a:r>
              <a:rPr kumimoji="1" lang="en-US" altLang="zh-CN" sz="12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(67, 124)</a:t>
            </a:r>
            <a:endParaRPr kumimoji="1" lang="zh-CN" altLang="en-US" sz="1200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114" name="圆角矩形 64">
            <a:extLst>
              <a:ext uri="{FF2B5EF4-FFF2-40B4-BE49-F238E27FC236}">
                <a16:creationId xmlns:a16="http://schemas.microsoft.com/office/drawing/2014/main" id="{D7507AC3-31BE-47CC-A3F2-9CE374AD01AF}"/>
              </a:ext>
            </a:extLst>
          </p:cNvPr>
          <p:cNvSpPr/>
          <p:nvPr/>
        </p:nvSpPr>
        <p:spPr>
          <a:xfrm>
            <a:off x="8943368" y="1689330"/>
            <a:ext cx="2642958" cy="348656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30000">
                <a:schemeClr val="accent1"/>
              </a:gs>
              <a:gs pos="100000">
                <a:schemeClr val="accent1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1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F72D30A9-21D6-4DC9-8116-6CFF39E0FE1C}"/>
              </a:ext>
            </a:extLst>
          </p:cNvPr>
          <p:cNvSpPr txBox="1"/>
          <p:nvPr/>
        </p:nvSpPr>
        <p:spPr>
          <a:xfrm>
            <a:off x="8997764" y="1767457"/>
            <a:ext cx="258469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en-US" altLang="zh-CN" sz="1200" dirty="0" err="1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page.goto</a:t>
            </a:r>
            <a:r>
              <a:rPr kumimoji="1" lang="en-US" altLang="zh-CN" sz="1200" dirty="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rPr>
              <a:t>(http://192.168.3.27)</a:t>
            </a:r>
            <a:endParaRPr kumimoji="1" lang="zh-CN" altLang="en-US" sz="1200" dirty="0">
              <a:solidFill>
                <a:schemeClr val="bg1"/>
              </a:solidFill>
              <a:latin typeface="OPPOSans M" pitchFamily="18" charset="-122"/>
              <a:ea typeface="OPPOSans M" pitchFamily="18" charset="-122"/>
              <a:cs typeface="OPPOSans M" pitchFamily="18" charset="-122"/>
            </a:endParaRPr>
          </a:p>
        </p:txBody>
      </p:sp>
      <p:sp>
        <p:nvSpPr>
          <p:cNvPr id="116" name="同侧圆角矩形 17">
            <a:extLst>
              <a:ext uri="{FF2B5EF4-FFF2-40B4-BE49-F238E27FC236}">
                <a16:creationId xmlns:a16="http://schemas.microsoft.com/office/drawing/2014/main" id="{E5BE8CB3-3AB7-4A90-8BA8-5409673386D0}"/>
              </a:ext>
            </a:extLst>
          </p:cNvPr>
          <p:cNvSpPr/>
          <p:nvPr/>
        </p:nvSpPr>
        <p:spPr>
          <a:xfrm>
            <a:off x="8660044" y="1192669"/>
            <a:ext cx="3162110" cy="393362"/>
          </a:xfrm>
          <a:prstGeom prst="round2SameRect">
            <a:avLst>
              <a:gd name="adj1" fmla="val 30972"/>
              <a:gd name="adj2" fmla="val 0"/>
            </a:avLst>
          </a:prstGeom>
          <a:gradFill flip="none" rotWithShape="1">
            <a:gsLst>
              <a:gs pos="30000">
                <a:schemeClr val="accent2"/>
              </a:gs>
              <a:gs pos="100000">
                <a:schemeClr val="accent2">
                  <a:lumMod val="80000"/>
                  <a:lumOff val="20000"/>
                </a:schemeClr>
              </a:gs>
            </a:gsLst>
            <a:lin ang="13500000" scaled="1"/>
            <a:tileRect/>
          </a:gradFill>
          <a:ln>
            <a:noFill/>
          </a:ln>
          <a:effectLst>
            <a:outerShdw blurRad="381000" dist="190500" dir="5400000" sx="90000" sy="90000" algn="ctr" rotWithShape="0">
              <a:schemeClr val="accent2">
                <a:alpha val="3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27411F5B-F13D-4A96-9852-DCB061D6C998}"/>
              </a:ext>
            </a:extLst>
          </p:cNvPr>
          <p:cNvSpPr txBox="1"/>
          <p:nvPr/>
        </p:nvSpPr>
        <p:spPr>
          <a:xfrm>
            <a:off x="9721849" y="1297017"/>
            <a:ext cx="1123951" cy="1846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zh-CN"/>
            </a:defPPr>
            <a:lvl1pPr algn="ctr">
              <a:defRPr kumimoji="1" sz="1600">
                <a:solidFill>
                  <a:schemeClr val="bg1"/>
                </a:solidFill>
                <a:latin typeface="OPPOSans M" pitchFamily="18" charset="-122"/>
                <a:ea typeface="OPPOSans M" pitchFamily="18" charset="-122"/>
                <a:cs typeface="OPPOSans M" pitchFamily="18" charset="-122"/>
              </a:defRPr>
            </a:lvl1pPr>
          </a:lstStyle>
          <a:p>
            <a:r>
              <a:rPr lang="zh-CN" altLang="en-US" sz="1200" dirty="0"/>
              <a:t>输出</a:t>
            </a:r>
          </a:p>
        </p:txBody>
      </p:sp>
      <p:sp>
        <p:nvSpPr>
          <p:cNvPr id="118" name="上箭头 101">
            <a:extLst>
              <a:ext uri="{FF2B5EF4-FFF2-40B4-BE49-F238E27FC236}">
                <a16:creationId xmlns:a16="http://schemas.microsoft.com/office/drawing/2014/main" id="{AF786029-B9B3-40DA-B02D-71544D0A34EB}"/>
              </a:ext>
            </a:extLst>
          </p:cNvPr>
          <p:cNvSpPr/>
          <p:nvPr/>
        </p:nvSpPr>
        <p:spPr>
          <a:xfrm rot="16200000">
            <a:off x="4202453" y="1879452"/>
            <a:ext cx="402394" cy="349968"/>
          </a:xfrm>
          <a:prstGeom prst="upArrow">
            <a:avLst>
              <a:gd name="adj1" fmla="val 58333"/>
              <a:gd name="adj2" fmla="val 50000"/>
            </a:avLst>
          </a:prstGeom>
          <a:gradFill>
            <a:gsLst>
              <a:gs pos="61000">
                <a:schemeClr val="accent1"/>
              </a:gs>
              <a:gs pos="0">
                <a:schemeClr val="accent1">
                  <a:lumMod val="40000"/>
                  <a:lumOff val="60000"/>
                  <a:alpha val="0"/>
                </a:schemeClr>
              </a:gs>
            </a:gsLst>
            <a:lin ang="16200000" scaled="0"/>
          </a:gradFill>
          <a:ln w="6350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19" name="上箭头 101">
            <a:extLst>
              <a:ext uri="{FF2B5EF4-FFF2-40B4-BE49-F238E27FC236}">
                <a16:creationId xmlns:a16="http://schemas.microsoft.com/office/drawing/2014/main" id="{350B2445-1B74-49EC-8AB1-E506266F1A53}"/>
              </a:ext>
            </a:extLst>
          </p:cNvPr>
          <p:cNvSpPr/>
          <p:nvPr/>
        </p:nvSpPr>
        <p:spPr>
          <a:xfrm rot="16200000">
            <a:off x="8360753" y="1909679"/>
            <a:ext cx="402394" cy="349968"/>
          </a:xfrm>
          <a:prstGeom prst="upArrow">
            <a:avLst>
              <a:gd name="adj1" fmla="val 58333"/>
              <a:gd name="adj2" fmla="val 50000"/>
            </a:avLst>
          </a:prstGeom>
          <a:gradFill>
            <a:gsLst>
              <a:gs pos="61000">
                <a:schemeClr val="accent1"/>
              </a:gs>
              <a:gs pos="0">
                <a:schemeClr val="accent1">
                  <a:lumMod val="40000"/>
                  <a:lumOff val="60000"/>
                  <a:alpha val="0"/>
                </a:schemeClr>
              </a:gs>
            </a:gsLst>
            <a:lin ang="16200000" scaled="0"/>
          </a:gradFill>
          <a:ln w="6350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20" name="上箭头 101">
            <a:extLst>
              <a:ext uri="{FF2B5EF4-FFF2-40B4-BE49-F238E27FC236}">
                <a16:creationId xmlns:a16="http://schemas.microsoft.com/office/drawing/2014/main" id="{5200AED3-5081-49C7-8C80-43F928EE5DBE}"/>
              </a:ext>
            </a:extLst>
          </p:cNvPr>
          <p:cNvSpPr/>
          <p:nvPr/>
        </p:nvSpPr>
        <p:spPr>
          <a:xfrm>
            <a:off x="10102526" y="2637698"/>
            <a:ext cx="402394" cy="349968"/>
          </a:xfrm>
          <a:prstGeom prst="upArrow">
            <a:avLst>
              <a:gd name="adj1" fmla="val 58333"/>
              <a:gd name="adj2" fmla="val 50000"/>
            </a:avLst>
          </a:prstGeom>
          <a:gradFill>
            <a:gsLst>
              <a:gs pos="61000">
                <a:schemeClr val="accent1"/>
              </a:gs>
              <a:gs pos="0">
                <a:schemeClr val="accent1">
                  <a:lumMod val="40000"/>
                  <a:lumOff val="60000"/>
                  <a:alpha val="0"/>
                </a:schemeClr>
              </a:gs>
            </a:gsLst>
            <a:lin ang="16200000" scaled="0"/>
          </a:gradFill>
          <a:ln w="6350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121" name="上箭头 101">
            <a:extLst>
              <a:ext uri="{FF2B5EF4-FFF2-40B4-BE49-F238E27FC236}">
                <a16:creationId xmlns:a16="http://schemas.microsoft.com/office/drawing/2014/main" id="{AC91839D-12A9-4E2C-8AB6-DD7024D855B6}"/>
              </a:ext>
            </a:extLst>
          </p:cNvPr>
          <p:cNvSpPr/>
          <p:nvPr/>
        </p:nvSpPr>
        <p:spPr>
          <a:xfrm rot="10800000">
            <a:off x="2141488" y="2595848"/>
            <a:ext cx="402394" cy="349968"/>
          </a:xfrm>
          <a:prstGeom prst="upArrow">
            <a:avLst>
              <a:gd name="adj1" fmla="val 58333"/>
              <a:gd name="adj2" fmla="val 50000"/>
            </a:avLst>
          </a:prstGeom>
          <a:gradFill>
            <a:gsLst>
              <a:gs pos="61000">
                <a:schemeClr val="accent1"/>
              </a:gs>
              <a:gs pos="0">
                <a:schemeClr val="accent1">
                  <a:lumMod val="40000"/>
                  <a:lumOff val="60000"/>
                  <a:alpha val="0"/>
                </a:schemeClr>
              </a:gs>
            </a:gsLst>
            <a:lin ang="16200000" scaled="0"/>
          </a:gradFill>
          <a:ln w="6350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955549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https://www.islide.cc;"/>
</p:tagLst>
</file>

<file path=ppt/theme/theme1.xml><?xml version="1.0" encoding="utf-8"?>
<a:theme xmlns:a="http://schemas.openxmlformats.org/drawingml/2006/main" name="Office 主题​​">
  <a:themeElements>
    <a:clrScheme name="深邃商务蓝">
      <a:dk1>
        <a:sysClr val="windowText" lastClr="000000"/>
      </a:dk1>
      <a:lt1>
        <a:sysClr val="window" lastClr="FFFFFF"/>
      </a:lt1>
      <a:dk2>
        <a:srgbClr val="171616"/>
      </a:dk2>
      <a:lt2>
        <a:srgbClr val="FFFFFF"/>
      </a:lt2>
      <a:accent1>
        <a:srgbClr val="0048BF"/>
      </a:accent1>
      <a:accent2>
        <a:srgbClr val="0563C1"/>
      </a:accent2>
      <a:accent3>
        <a:srgbClr val="0563C1"/>
      </a:accent3>
      <a:accent4>
        <a:srgbClr val="0061FF"/>
      </a:accent4>
      <a:accent5>
        <a:srgbClr val="0563C1"/>
      </a:accent5>
      <a:accent6>
        <a:srgbClr val="0563C1"/>
      </a:accent6>
      <a:hlink>
        <a:srgbClr val="0563C1"/>
      </a:hlink>
      <a:folHlink>
        <a:srgbClr val="954F72"/>
      </a:folHlink>
    </a:clrScheme>
    <a:fontScheme name="oppo">
      <a:majorFont>
        <a:latin typeface="Arial Black"/>
        <a:ea typeface="OPPOSans M"/>
        <a:cs typeface=""/>
      </a:majorFont>
      <a:minorFont>
        <a:latin typeface="Arial"/>
        <a:ea typeface="OPPOSans 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2224</TotalTime>
  <Words>154</Words>
  <Application>Microsoft Office PowerPoint</Application>
  <PresentationFormat>宽屏</PresentationFormat>
  <Paragraphs>36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OPPOSans B</vt:lpstr>
      <vt:lpstr>OPPOSans M</vt:lpstr>
      <vt:lpstr>OPPOSans R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O365</dc:creator>
  <cp:lastModifiedBy>admin</cp:lastModifiedBy>
  <cp:revision>270</cp:revision>
  <dcterms:created xsi:type="dcterms:W3CDTF">2023-08-19T11:20:34Z</dcterms:created>
  <dcterms:modified xsi:type="dcterms:W3CDTF">2025-12-22T08:08:36Z</dcterms:modified>
</cp:coreProperties>
</file>