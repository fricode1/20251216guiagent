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19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目录过渡页" id="{A506C381-4314-4720-8161-573E34EBFFEE}">
          <p14:sldIdLst/>
        </p14:section>
        <p14:section name="逻辑架构图" id="{CFCD32F9-5A4E-4CA8-A30F-89F07E7654C7}">
          <p14:sldIdLst>
            <p14:sldId id="1194"/>
          </p14:sldIdLst>
        </p14:section>
        <p14:section name="工作汇报通用页面" id="{AE3BB2B3-4952-4899-94A3-D1F9767A68AB}">
          <p14:sldIdLst/>
        </p14:section>
        <p14:section name="经典思维模型" id="{F1C2ACDC-7825-4BA2-AD07-1F496222CD8E}">
          <p14:sldIdLst/>
        </p14:section>
        <p14:section name="图文排版页面" id="{0DD4D2FA-C63E-4C6D-A0B7-0A61E9D127EA}">
          <p14:sldIdLst/>
        </p14:section>
        <p14:section name="数据图页" id="{2E0BC0C2-10CD-45CE-81E0-C102595F519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74E0"/>
    <a:srgbClr val="FBFAFA"/>
    <a:srgbClr val="E6E6E6"/>
    <a:srgbClr val="E5E1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95" autoAdjust="0"/>
    <p:restoredTop sz="95026" autoAdjust="0"/>
  </p:normalViewPr>
  <p:slideViewPr>
    <p:cSldViewPr snapToGrid="0">
      <p:cViewPr varScale="1">
        <p:scale>
          <a:sx n="121" d="100"/>
          <a:sy n="121" d="100"/>
        </p:scale>
        <p:origin x="76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90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fld id="{5A54F5A0-E0BD-4D39-BB95-72CB48177CF8}" type="datetimeFigureOut">
              <a:rPr lang="zh-CN" altLang="en-US" smtClean="0"/>
              <a:pPr/>
              <a:t>2025/12/22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fld id="{B7807B83-C6EF-4820-B29B-23163268F2B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979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B34AC-095F-BD9D-AD35-1905E82C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CBB8B-E207-4A72-A621-3330343C8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D91D-C56A-470B-C3E1-09F202461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41FB4-9A47-CCA3-4FF6-E6B4890276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230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61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08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38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611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CD8D8-2C69-D942-91CD-D951777D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A425BA8-3F1A-73CA-66EB-BF648FACBDCE}"/>
              </a:ext>
            </a:extLst>
          </p:cNvPr>
          <p:cNvSpPr txBox="1"/>
          <p:nvPr/>
        </p:nvSpPr>
        <p:spPr>
          <a:xfrm>
            <a:off x="1377845" y="-400876"/>
            <a:ext cx="2737878" cy="48737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accent1"/>
                </a:solidFill>
                <a:latin typeface="+mj-ea"/>
                <a:ea typeface="+mj-ea"/>
                <a:cs typeface="阿里巴巴普惠体 M" panose="00020600040101010101" pitchFamily="18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zh-CN" altLang="en-US" sz="2400" dirty="0">
              <a:latin typeface="OPPOSans B" panose="00020600040101010101" pitchFamily="18" charset="-122"/>
              <a:ea typeface="OPPOSans B" panose="00020600040101010101" pitchFamily="18" charset="-122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A45EFA8-8EEE-1F37-636B-63A52ED20990}"/>
              </a:ext>
            </a:extLst>
          </p:cNvPr>
          <p:cNvSpPr/>
          <p:nvPr/>
        </p:nvSpPr>
        <p:spPr>
          <a:xfrm>
            <a:off x="344772" y="1114202"/>
            <a:ext cx="11527437" cy="683868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4">
            <a:extLst>
              <a:ext uri="{FF2B5EF4-FFF2-40B4-BE49-F238E27FC236}">
                <a16:creationId xmlns:a16="http://schemas.microsoft.com/office/drawing/2014/main" id="{217FF10F-806F-F318-1C4A-5B9308273F8E}"/>
              </a:ext>
            </a:extLst>
          </p:cNvPr>
          <p:cNvSpPr/>
          <p:nvPr/>
        </p:nvSpPr>
        <p:spPr>
          <a:xfrm>
            <a:off x="344772" y="1965073"/>
            <a:ext cx="1948723" cy="3003418"/>
          </a:xfrm>
          <a:prstGeom prst="roundRect">
            <a:avLst>
              <a:gd name="adj" fmla="val 5293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190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圆角矩形 6">
            <a:extLst>
              <a:ext uri="{FF2B5EF4-FFF2-40B4-BE49-F238E27FC236}">
                <a16:creationId xmlns:a16="http://schemas.microsoft.com/office/drawing/2014/main" id="{4258ED2F-D84B-AE30-8A01-4F1EF5C18D2A}"/>
              </a:ext>
            </a:extLst>
          </p:cNvPr>
          <p:cNvSpPr/>
          <p:nvPr/>
        </p:nvSpPr>
        <p:spPr>
          <a:xfrm>
            <a:off x="2459113" y="2534037"/>
            <a:ext cx="2667527" cy="2434454"/>
          </a:xfrm>
          <a:prstGeom prst="roundRect">
            <a:avLst>
              <a:gd name="adj" fmla="val 5393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同侧圆角矩形 8">
            <a:extLst>
              <a:ext uri="{FF2B5EF4-FFF2-40B4-BE49-F238E27FC236}">
                <a16:creationId xmlns:a16="http://schemas.microsoft.com/office/drawing/2014/main" id="{FC7189A3-95CC-9E22-F26E-19AB2D2B5361}"/>
              </a:ext>
            </a:extLst>
          </p:cNvPr>
          <p:cNvSpPr/>
          <p:nvPr/>
        </p:nvSpPr>
        <p:spPr>
          <a:xfrm>
            <a:off x="2445045" y="2500045"/>
            <a:ext cx="2706728" cy="393362"/>
          </a:xfrm>
          <a:prstGeom prst="round2SameRect">
            <a:avLst>
              <a:gd name="adj1" fmla="val 30972"/>
              <a:gd name="adj2" fmla="val 0"/>
            </a:avLst>
          </a:prstGeom>
          <a:gradFill flip="none" rotWithShape="1">
            <a:gsLst>
              <a:gs pos="3000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9">
            <a:extLst>
              <a:ext uri="{FF2B5EF4-FFF2-40B4-BE49-F238E27FC236}">
                <a16:creationId xmlns:a16="http://schemas.microsoft.com/office/drawing/2014/main" id="{641E4AD4-4FB6-9356-5815-55203BACEA2B}"/>
              </a:ext>
            </a:extLst>
          </p:cNvPr>
          <p:cNvSpPr/>
          <p:nvPr/>
        </p:nvSpPr>
        <p:spPr>
          <a:xfrm>
            <a:off x="2597027" y="3066495"/>
            <a:ext cx="2374342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51F041-5A26-D322-08C7-D5CF8242BED8}"/>
              </a:ext>
            </a:extLst>
          </p:cNvPr>
          <p:cNvSpPr txBox="1"/>
          <p:nvPr/>
        </p:nvSpPr>
        <p:spPr>
          <a:xfrm>
            <a:off x="3110831" y="2604393"/>
            <a:ext cx="1375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/>
              <a:t>感知层 </a:t>
            </a:r>
            <a:r>
              <a:rPr lang="en-US" altLang="zh-CN" sz="1200" dirty="0"/>
              <a:t>(Perception)</a:t>
            </a:r>
            <a:endParaRPr lang="zh-CN" altLang="en-US" sz="1200" dirty="0"/>
          </a:p>
        </p:txBody>
      </p:sp>
      <p:sp>
        <p:nvSpPr>
          <p:cNvPr id="21" name="圆角矩形 13">
            <a:extLst>
              <a:ext uri="{FF2B5EF4-FFF2-40B4-BE49-F238E27FC236}">
                <a16:creationId xmlns:a16="http://schemas.microsoft.com/office/drawing/2014/main" id="{2F390257-5272-A548-1B5A-95AEC6181B02}"/>
              </a:ext>
            </a:extLst>
          </p:cNvPr>
          <p:cNvSpPr/>
          <p:nvPr/>
        </p:nvSpPr>
        <p:spPr>
          <a:xfrm>
            <a:off x="2597027" y="3682402"/>
            <a:ext cx="2374342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15">
            <a:extLst>
              <a:ext uri="{FF2B5EF4-FFF2-40B4-BE49-F238E27FC236}">
                <a16:creationId xmlns:a16="http://schemas.microsoft.com/office/drawing/2014/main" id="{3BB3B287-A5EA-72F4-D990-9909D3EEA248}"/>
              </a:ext>
            </a:extLst>
          </p:cNvPr>
          <p:cNvSpPr/>
          <p:nvPr/>
        </p:nvSpPr>
        <p:spPr>
          <a:xfrm>
            <a:off x="2597027" y="4298309"/>
            <a:ext cx="2374342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16">
            <a:extLst>
              <a:ext uri="{FF2B5EF4-FFF2-40B4-BE49-F238E27FC236}">
                <a16:creationId xmlns:a16="http://schemas.microsoft.com/office/drawing/2014/main" id="{6A9B0E4B-4215-2CB8-3584-34D8AE6A23BD}"/>
              </a:ext>
            </a:extLst>
          </p:cNvPr>
          <p:cNvSpPr/>
          <p:nvPr/>
        </p:nvSpPr>
        <p:spPr>
          <a:xfrm>
            <a:off x="5284125" y="2539104"/>
            <a:ext cx="3744000" cy="2434454"/>
          </a:xfrm>
          <a:prstGeom prst="roundRect">
            <a:avLst>
              <a:gd name="adj" fmla="val 5393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同侧圆角矩形 17">
            <a:extLst>
              <a:ext uri="{FF2B5EF4-FFF2-40B4-BE49-F238E27FC236}">
                <a16:creationId xmlns:a16="http://schemas.microsoft.com/office/drawing/2014/main" id="{AAC61BDB-30E9-A428-0033-8F87EFC0D349}"/>
              </a:ext>
            </a:extLst>
          </p:cNvPr>
          <p:cNvSpPr/>
          <p:nvPr/>
        </p:nvSpPr>
        <p:spPr>
          <a:xfrm>
            <a:off x="5270056" y="2505112"/>
            <a:ext cx="3780000" cy="393362"/>
          </a:xfrm>
          <a:prstGeom prst="round2SameRect">
            <a:avLst>
              <a:gd name="adj1" fmla="val 30972"/>
              <a:gd name="adj2" fmla="val 0"/>
            </a:avLst>
          </a:prstGeom>
          <a:gradFill flip="none" rotWithShape="1">
            <a:gsLst>
              <a:gs pos="3000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18">
            <a:extLst>
              <a:ext uri="{FF2B5EF4-FFF2-40B4-BE49-F238E27FC236}">
                <a16:creationId xmlns:a16="http://schemas.microsoft.com/office/drawing/2014/main" id="{2C6640A4-83AA-8B0A-3586-B5EEBA8C3E4D}"/>
              </a:ext>
            </a:extLst>
          </p:cNvPr>
          <p:cNvSpPr/>
          <p:nvPr/>
        </p:nvSpPr>
        <p:spPr>
          <a:xfrm>
            <a:off x="5676870" y="3041583"/>
            <a:ext cx="2374342" cy="465258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A61E3F-5890-BE71-65A3-CCBC1AC17B14}"/>
              </a:ext>
            </a:extLst>
          </p:cNvPr>
          <p:cNvSpPr txBox="1"/>
          <p:nvPr/>
        </p:nvSpPr>
        <p:spPr>
          <a:xfrm>
            <a:off x="6149063" y="2609460"/>
            <a:ext cx="202198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/>
              <a:t>智能规划与决策 </a:t>
            </a:r>
            <a:r>
              <a:rPr lang="en-US" altLang="zh-CN" sz="1200" dirty="0"/>
              <a:t>(Planning)</a:t>
            </a:r>
            <a:endParaRPr lang="zh-CN" altLang="en-US" sz="1200" dirty="0"/>
          </a:p>
        </p:txBody>
      </p:sp>
      <p:sp>
        <p:nvSpPr>
          <p:cNvPr id="41" name="圆角矩形 26">
            <a:extLst>
              <a:ext uri="{FF2B5EF4-FFF2-40B4-BE49-F238E27FC236}">
                <a16:creationId xmlns:a16="http://schemas.microsoft.com/office/drawing/2014/main" id="{CC9C400C-951B-42A4-9AF0-BE9FE8079351}"/>
              </a:ext>
            </a:extLst>
          </p:cNvPr>
          <p:cNvSpPr/>
          <p:nvPr/>
        </p:nvSpPr>
        <p:spPr>
          <a:xfrm>
            <a:off x="5676870" y="3587509"/>
            <a:ext cx="1153295" cy="664560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圆角矩形 27">
            <a:extLst>
              <a:ext uri="{FF2B5EF4-FFF2-40B4-BE49-F238E27FC236}">
                <a16:creationId xmlns:a16="http://schemas.microsoft.com/office/drawing/2014/main" id="{539ECA30-25B1-75E8-0D43-E5A78FA6C047}"/>
              </a:ext>
            </a:extLst>
          </p:cNvPr>
          <p:cNvSpPr/>
          <p:nvPr/>
        </p:nvSpPr>
        <p:spPr>
          <a:xfrm>
            <a:off x="5676870" y="4327670"/>
            <a:ext cx="2374342" cy="465259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圆角矩形 28">
            <a:extLst>
              <a:ext uri="{FF2B5EF4-FFF2-40B4-BE49-F238E27FC236}">
                <a16:creationId xmlns:a16="http://schemas.microsoft.com/office/drawing/2014/main" id="{7632B551-69AD-7B6E-A848-C07049A5E8FF}"/>
              </a:ext>
            </a:extLst>
          </p:cNvPr>
          <p:cNvSpPr/>
          <p:nvPr/>
        </p:nvSpPr>
        <p:spPr>
          <a:xfrm>
            <a:off x="9179549" y="2544171"/>
            <a:ext cx="2667527" cy="2434454"/>
          </a:xfrm>
          <a:prstGeom prst="roundRect">
            <a:avLst>
              <a:gd name="adj" fmla="val 5393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同侧圆角矩形 29">
            <a:extLst>
              <a:ext uri="{FF2B5EF4-FFF2-40B4-BE49-F238E27FC236}">
                <a16:creationId xmlns:a16="http://schemas.microsoft.com/office/drawing/2014/main" id="{07613FC3-55E8-FF81-99FB-4979E5F07423}"/>
              </a:ext>
            </a:extLst>
          </p:cNvPr>
          <p:cNvSpPr/>
          <p:nvPr/>
        </p:nvSpPr>
        <p:spPr>
          <a:xfrm>
            <a:off x="9165481" y="2510179"/>
            <a:ext cx="2706728" cy="393362"/>
          </a:xfrm>
          <a:prstGeom prst="round2SameRect">
            <a:avLst>
              <a:gd name="adj1" fmla="val 30972"/>
              <a:gd name="adj2" fmla="val 0"/>
            </a:avLst>
          </a:prstGeom>
          <a:gradFill flip="none" rotWithShape="1">
            <a:gsLst>
              <a:gs pos="3000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圆角矩形 30">
            <a:extLst>
              <a:ext uri="{FF2B5EF4-FFF2-40B4-BE49-F238E27FC236}">
                <a16:creationId xmlns:a16="http://schemas.microsoft.com/office/drawing/2014/main" id="{D41FF957-C8D2-07BD-C152-F54E67DE57F9}"/>
              </a:ext>
            </a:extLst>
          </p:cNvPr>
          <p:cNvSpPr/>
          <p:nvPr/>
        </p:nvSpPr>
        <p:spPr>
          <a:xfrm>
            <a:off x="9317463" y="3076629"/>
            <a:ext cx="1117904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9E3EDAC-1515-3AA1-FCC0-CC5C63AE6D97}"/>
              </a:ext>
            </a:extLst>
          </p:cNvPr>
          <p:cNvSpPr txBox="1"/>
          <p:nvPr/>
        </p:nvSpPr>
        <p:spPr>
          <a:xfrm>
            <a:off x="9831267" y="2614527"/>
            <a:ext cx="1375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/>
              <a:t>记忆 </a:t>
            </a:r>
            <a:r>
              <a:rPr lang="en-US" altLang="zh-CN" sz="1200" dirty="0"/>
              <a:t>(Memory)</a:t>
            </a:r>
            <a:endParaRPr lang="zh-CN" altLang="en-US" sz="1200" dirty="0"/>
          </a:p>
        </p:txBody>
      </p:sp>
      <p:sp>
        <p:nvSpPr>
          <p:cNvPr id="55" name="圆角矩形 32">
            <a:extLst>
              <a:ext uri="{FF2B5EF4-FFF2-40B4-BE49-F238E27FC236}">
                <a16:creationId xmlns:a16="http://schemas.microsoft.com/office/drawing/2014/main" id="{4053C556-6912-3099-0CDB-1B8C2C0F7B90}"/>
              </a:ext>
            </a:extLst>
          </p:cNvPr>
          <p:cNvSpPr/>
          <p:nvPr/>
        </p:nvSpPr>
        <p:spPr>
          <a:xfrm>
            <a:off x="9317463" y="3692536"/>
            <a:ext cx="2374342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圆角矩形 33">
            <a:extLst>
              <a:ext uri="{FF2B5EF4-FFF2-40B4-BE49-F238E27FC236}">
                <a16:creationId xmlns:a16="http://schemas.microsoft.com/office/drawing/2014/main" id="{81D7958D-C0A8-FA84-92AF-77B7DB5B06CF}"/>
              </a:ext>
            </a:extLst>
          </p:cNvPr>
          <p:cNvSpPr/>
          <p:nvPr/>
        </p:nvSpPr>
        <p:spPr>
          <a:xfrm>
            <a:off x="9317463" y="4308443"/>
            <a:ext cx="2374342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圆角矩形 34">
            <a:extLst>
              <a:ext uri="{FF2B5EF4-FFF2-40B4-BE49-F238E27FC236}">
                <a16:creationId xmlns:a16="http://schemas.microsoft.com/office/drawing/2014/main" id="{DE64137D-77CD-A2C0-FBA7-EFBB4EA58C42}"/>
              </a:ext>
            </a:extLst>
          </p:cNvPr>
          <p:cNvSpPr/>
          <p:nvPr/>
        </p:nvSpPr>
        <p:spPr>
          <a:xfrm>
            <a:off x="6925707" y="3587509"/>
            <a:ext cx="1125506" cy="664560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圆角矩形 35">
            <a:extLst>
              <a:ext uri="{FF2B5EF4-FFF2-40B4-BE49-F238E27FC236}">
                <a16:creationId xmlns:a16="http://schemas.microsoft.com/office/drawing/2014/main" id="{CC66C186-9FA8-6507-0B1D-584E3D8AE61A}"/>
              </a:ext>
            </a:extLst>
          </p:cNvPr>
          <p:cNvSpPr/>
          <p:nvPr/>
        </p:nvSpPr>
        <p:spPr>
          <a:xfrm>
            <a:off x="8136959" y="3044136"/>
            <a:ext cx="493776" cy="1743726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5" name="圆角矩形 36">
            <a:extLst>
              <a:ext uri="{FF2B5EF4-FFF2-40B4-BE49-F238E27FC236}">
                <a16:creationId xmlns:a16="http://schemas.microsoft.com/office/drawing/2014/main" id="{0D752CAB-4A12-2D67-5397-3A733C62B8D9}"/>
              </a:ext>
            </a:extLst>
          </p:cNvPr>
          <p:cNvSpPr/>
          <p:nvPr/>
        </p:nvSpPr>
        <p:spPr>
          <a:xfrm>
            <a:off x="10573901" y="3076629"/>
            <a:ext cx="1117904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6" name="圆角矩形 37">
            <a:extLst>
              <a:ext uri="{FF2B5EF4-FFF2-40B4-BE49-F238E27FC236}">
                <a16:creationId xmlns:a16="http://schemas.microsoft.com/office/drawing/2014/main" id="{F20A665F-6B1E-323F-937A-1528EDFAA88A}"/>
              </a:ext>
            </a:extLst>
          </p:cNvPr>
          <p:cNvSpPr/>
          <p:nvPr/>
        </p:nvSpPr>
        <p:spPr>
          <a:xfrm>
            <a:off x="605215" y="1281808"/>
            <a:ext cx="1182488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849908B0-4322-4888-9061-BE4F5424ED33}"/>
              </a:ext>
            </a:extLst>
          </p:cNvPr>
          <p:cNvSpPr txBox="1"/>
          <p:nvPr/>
        </p:nvSpPr>
        <p:spPr>
          <a:xfrm>
            <a:off x="867911" y="1363803"/>
            <a:ext cx="657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业务中台</a:t>
            </a:r>
          </a:p>
        </p:txBody>
      </p:sp>
      <p:sp>
        <p:nvSpPr>
          <p:cNvPr id="138" name="圆角矩形 43">
            <a:extLst>
              <a:ext uri="{FF2B5EF4-FFF2-40B4-BE49-F238E27FC236}">
                <a16:creationId xmlns:a16="http://schemas.microsoft.com/office/drawing/2014/main" id="{79394CF4-89F7-33A5-5BC9-3BB4AFA29351}"/>
              </a:ext>
            </a:extLst>
          </p:cNvPr>
          <p:cNvSpPr/>
          <p:nvPr/>
        </p:nvSpPr>
        <p:spPr>
          <a:xfrm>
            <a:off x="2445158" y="1969468"/>
            <a:ext cx="9401918" cy="413920"/>
          </a:xfrm>
          <a:prstGeom prst="roundRect">
            <a:avLst>
              <a:gd name="adj" fmla="val 5293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190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9" name="圆角矩形 46">
            <a:extLst>
              <a:ext uri="{FF2B5EF4-FFF2-40B4-BE49-F238E27FC236}">
                <a16:creationId xmlns:a16="http://schemas.microsoft.com/office/drawing/2014/main" id="{128E494E-9B6A-E0C7-C825-146B828D8096}"/>
              </a:ext>
            </a:extLst>
          </p:cNvPr>
          <p:cNvSpPr/>
          <p:nvPr/>
        </p:nvSpPr>
        <p:spPr>
          <a:xfrm>
            <a:off x="344772" y="5154949"/>
            <a:ext cx="11527437" cy="854610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圆角矩形 47">
            <a:extLst>
              <a:ext uri="{FF2B5EF4-FFF2-40B4-BE49-F238E27FC236}">
                <a16:creationId xmlns:a16="http://schemas.microsoft.com/office/drawing/2014/main" id="{D6A42105-302C-102D-A34B-6AA45FAA74D9}"/>
              </a:ext>
            </a:extLst>
          </p:cNvPr>
          <p:cNvSpPr/>
          <p:nvPr/>
        </p:nvSpPr>
        <p:spPr>
          <a:xfrm>
            <a:off x="344772" y="6160208"/>
            <a:ext cx="1948723" cy="489158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圆角矩形 48">
            <a:extLst>
              <a:ext uri="{FF2B5EF4-FFF2-40B4-BE49-F238E27FC236}">
                <a16:creationId xmlns:a16="http://schemas.microsoft.com/office/drawing/2014/main" id="{A2928B09-B562-A230-0161-FF5CE8170DFC}"/>
              </a:ext>
            </a:extLst>
          </p:cNvPr>
          <p:cNvSpPr/>
          <p:nvPr/>
        </p:nvSpPr>
        <p:spPr>
          <a:xfrm>
            <a:off x="2038363" y="1281808"/>
            <a:ext cx="1182488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10385F1A-1650-EC13-8612-1E6C0490EB7D}"/>
              </a:ext>
            </a:extLst>
          </p:cNvPr>
          <p:cNvSpPr txBox="1"/>
          <p:nvPr/>
        </p:nvSpPr>
        <p:spPr>
          <a:xfrm>
            <a:off x="2310842" y="1363803"/>
            <a:ext cx="657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系统巡检</a:t>
            </a:r>
          </a:p>
        </p:txBody>
      </p:sp>
      <p:sp>
        <p:nvSpPr>
          <p:cNvPr id="159" name="圆角矩形 50">
            <a:extLst>
              <a:ext uri="{FF2B5EF4-FFF2-40B4-BE49-F238E27FC236}">
                <a16:creationId xmlns:a16="http://schemas.microsoft.com/office/drawing/2014/main" id="{51840667-20C6-A237-92D0-9CF7353CDEE3}"/>
              </a:ext>
            </a:extLst>
          </p:cNvPr>
          <p:cNvSpPr/>
          <p:nvPr/>
        </p:nvSpPr>
        <p:spPr>
          <a:xfrm>
            <a:off x="3471511" y="1281808"/>
            <a:ext cx="1182488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6C23DD98-9709-B567-AB30-2408899CA026}"/>
              </a:ext>
            </a:extLst>
          </p:cNvPr>
          <p:cNvSpPr txBox="1"/>
          <p:nvPr/>
        </p:nvSpPr>
        <p:spPr>
          <a:xfrm>
            <a:off x="3734207" y="1363803"/>
            <a:ext cx="657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任务编排</a:t>
            </a:r>
          </a:p>
        </p:txBody>
      </p:sp>
      <p:sp>
        <p:nvSpPr>
          <p:cNvPr id="162" name="圆角矩形 52">
            <a:extLst>
              <a:ext uri="{FF2B5EF4-FFF2-40B4-BE49-F238E27FC236}">
                <a16:creationId xmlns:a16="http://schemas.microsoft.com/office/drawing/2014/main" id="{33012E00-2E41-E854-2B85-359DF474227E}"/>
              </a:ext>
            </a:extLst>
          </p:cNvPr>
          <p:cNvSpPr/>
          <p:nvPr/>
        </p:nvSpPr>
        <p:spPr>
          <a:xfrm>
            <a:off x="4904659" y="1281808"/>
            <a:ext cx="1182488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EFE2CE1C-B4DD-4BFB-8CA7-57EAC0ABB458}"/>
              </a:ext>
            </a:extLst>
          </p:cNvPr>
          <p:cNvSpPr txBox="1"/>
          <p:nvPr/>
        </p:nvSpPr>
        <p:spPr>
          <a:xfrm>
            <a:off x="5167355" y="1363803"/>
            <a:ext cx="657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表单填充</a:t>
            </a:r>
          </a:p>
        </p:txBody>
      </p:sp>
      <p:sp>
        <p:nvSpPr>
          <p:cNvPr id="164" name="圆角矩形 55">
            <a:extLst>
              <a:ext uri="{FF2B5EF4-FFF2-40B4-BE49-F238E27FC236}">
                <a16:creationId xmlns:a16="http://schemas.microsoft.com/office/drawing/2014/main" id="{BC7EEB8A-122E-CA07-BBC1-2BFDB36832EF}"/>
              </a:ext>
            </a:extLst>
          </p:cNvPr>
          <p:cNvSpPr/>
          <p:nvPr/>
        </p:nvSpPr>
        <p:spPr>
          <a:xfrm>
            <a:off x="6337807" y="1281808"/>
            <a:ext cx="1582582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85C4F33E-1B24-D4DA-B901-E31FA12ADB34}"/>
              </a:ext>
            </a:extLst>
          </p:cNvPr>
          <p:cNvSpPr txBox="1"/>
          <p:nvPr/>
        </p:nvSpPr>
        <p:spPr>
          <a:xfrm>
            <a:off x="6549891" y="1363803"/>
            <a:ext cx="115841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自动工作流</a:t>
            </a:r>
          </a:p>
        </p:txBody>
      </p:sp>
      <p:sp>
        <p:nvSpPr>
          <p:cNvPr id="166" name="圆角矩形 64">
            <a:extLst>
              <a:ext uri="{FF2B5EF4-FFF2-40B4-BE49-F238E27FC236}">
                <a16:creationId xmlns:a16="http://schemas.microsoft.com/office/drawing/2014/main" id="{6EF32EC8-DC31-81BF-2AAA-3DCDDE647C90}"/>
              </a:ext>
            </a:extLst>
          </p:cNvPr>
          <p:cNvSpPr/>
          <p:nvPr/>
        </p:nvSpPr>
        <p:spPr>
          <a:xfrm>
            <a:off x="8171049" y="1281808"/>
            <a:ext cx="1582582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E030CBAD-D755-08EE-6ABA-ACBF233D2A2C}"/>
              </a:ext>
            </a:extLst>
          </p:cNvPr>
          <p:cNvSpPr txBox="1"/>
          <p:nvPr/>
        </p:nvSpPr>
        <p:spPr>
          <a:xfrm>
            <a:off x="8458469" y="1363803"/>
            <a:ext cx="100774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数字化管理</a:t>
            </a:r>
          </a:p>
        </p:txBody>
      </p:sp>
      <p:sp>
        <p:nvSpPr>
          <p:cNvPr id="168" name="圆角矩形 66">
            <a:extLst>
              <a:ext uri="{FF2B5EF4-FFF2-40B4-BE49-F238E27FC236}">
                <a16:creationId xmlns:a16="http://schemas.microsoft.com/office/drawing/2014/main" id="{B777E5E1-7E38-4FDD-C08D-5176C44AF900}"/>
              </a:ext>
            </a:extLst>
          </p:cNvPr>
          <p:cNvSpPr/>
          <p:nvPr/>
        </p:nvSpPr>
        <p:spPr>
          <a:xfrm>
            <a:off x="10004292" y="1281808"/>
            <a:ext cx="1582583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924578FA-6F61-46AC-611A-44F0550BBAFA}"/>
              </a:ext>
            </a:extLst>
          </p:cNvPr>
          <p:cNvSpPr txBox="1"/>
          <p:nvPr/>
        </p:nvSpPr>
        <p:spPr>
          <a:xfrm>
            <a:off x="10153637" y="1363803"/>
            <a:ext cx="128389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跨平台数据对接</a:t>
            </a: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EC909D7F-7C7D-4B98-3361-BAF737840FED}"/>
              </a:ext>
            </a:extLst>
          </p:cNvPr>
          <p:cNvSpPr txBox="1"/>
          <p:nvPr/>
        </p:nvSpPr>
        <p:spPr>
          <a:xfrm>
            <a:off x="5845575" y="2084095"/>
            <a:ext cx="260109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accent1"/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统一动作空间 </a:t>
            </a:r>
            <a:r>
              <a:rPr kumimoji="1" lang="en-US" altLang="zh-CN" sz="1200" dirty="0">
                <a:solidFill>
                  <a:schemeClr val="accent1"/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(Unified Action Space)</a:t>
            </a:r>
            <a:endParaRPr kumimoji="1" lang="zh-CN" altLang="en-US" sz="1200" dirty="0">
              <a:solidFill>
                <a:schemeClr val="accent1"/>
              </a:solidFill>
              <a:latin typeface="OPPOSans R" pitchFamily="18" charset="-122"/>
              <a:ea typeface="OPPOSans R" pitchFamily="18" charset="-122"/>
              <a:cs typeface="OPPOSans R" pitchFamily="18" charset="-122"/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71B3176B-D15F-9952-5599-5B2918807B32}"/>
              </a:ext>
            </a:extLst>
          </p:cNvPr>
          <p:cNvSpPr txBox="1"/>
          <p:nvPr/>
        </p:nvSpPr>
        <p:spPr>
          <a:xfrm>
            <a:off x="3322538" y="3233928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解析元素布局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513EFE6-FCE1-4D53-84E4-BD8091710839}"/>
              </a:ext>
            </a:extLst>
          </p:cNvPr>
          <p:cNvSpPr txBox="1"/>
          <p:nvPr/>
        </p:nvSpPr>
        <p:spPr>
          <a:xfrm>
            <a:off x="3207732" y="3849835"/>
            <a:ext cx="11621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DOM</a:t>
            </a:r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树精简优化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A411B025-2DFB-F6B9-9453-292BA4C04CCF}"/>
              </a:ext>
            </a:extLst>
          </p:cNvPr>
          <p:cNvSpPr txBox="1"/>
          <p:nvPr/>
        </p:nvSpPr>
        <p:spPr>
          <a:xfrm>
            <a:off x="3331762" y="4465742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元素定位引擎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5FA1C3CD-459C-62B8-BF90-9B1D0B6A61EF}"/>
              </a:ext>
            </a:extLst>
          </p:cNvPr>
          <p:cNvSpPr txBox="1"/>
          <p:nvPr/>
        </p:nvSpPr>
        <p:spPr>
          <a:xfrm>
            <a:off x="6402384" y="3198182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解析用户意图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18A4097-D1CD-57B4-BE3D-D64E7381B27F}"/>
              </a:ext>
            </a:extLst>
          </p:cNvPr>
          <p:cNvSpPr txBox="1"/>
          <p:nvPr/>
        </p:nvSpPr>
        <p:spPr>
          <a:xfrm>
            <a:off x="5945746" y="3735123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多步骤</a:t>
            </a:r>
            <a:br>
              <a:rPr kumimoji="1" lang="en-US" altLang="zh-CN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</a:br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任务规划</a:t>
            </a:r>
            <a:endParaRPr kumimoji="1" lang="en-US" altLang="zh-CN" sz="1200" dirty="0">
              <a:solidFill>
                <a:schemeClr val="tx2">
                  <a:lumMod val="50000"/>
                </a:schemeClr>
              </a:solidFill>
              <a:latin typeface="OPPOSans R" pitchFamily="18" charset="-122"/>
              <a:ea typeface="OPPOSans R" pitchFamily="18" charset="-122"/>
              <a:cs typeface="OPPOSans R" pitchFamily="18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08A9E869-3599-4F01-B13C-F9FCD420F4CB}"/>
              </a:ext>
            </a:extLst>
          </p:cNvPr>
          <p:cNvSpPr txBox="1"/>
          <p:nvPr/>
        </p:nvSpPr>
        <p:spPr>
          <a:xfrm>
            <a:off x="7010400" y="3735123"/>
            <a:ext cx="95613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状态追踪</a:t>
            </a:r>
            <a:br>
              <a:rPr kumimoji="1" lang="en-US" altLang="zh-CN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</a:br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里程碑识别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4588ED23-1600-9F5C-0758-012746AAA03E}"/>
              </a:ext>
            </a:extLst>
          </p:cNvPr>
          <p:cNvSpPr txBox="1"/>
          <p:nvPr/>
        </p:nvSpPr>
        <p:spPr>
          <a:xfrm>
            <a:off x="6202615" y="4482204"/>
            <a:ext cx="138499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生成</a:t>
            </a:r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浏览器操作序列</a:t>
            </a:r>
          </a:p>
          <a:p>
            <a:pPr algn="ctr"/>
            <a:endParaRPr kumimoji="1" lang="zh-CN" altLang="en-US" sz="1200" dirty="0">
              <a:solidFill>
                <a:schemeClr val="tx2">
                  <a:lumMod val="50000"/>
                </a:schemeClr>
              </a:solidFill>
              <a:latin typeface="OPPOSans R" pitchFamily="18" charset="-122"/>
              <a:ea typeface="OPPOSans R" pitchFamily="18" charset="-122"/>
              <a:cs typeface="OPPOSans R" pitchFamily="18" charset="-122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397C4073-77D2-F140-DAD4-FB1073FB4408}"/>
              </a:ext>
            </a:extLst>
          </p:cNvPr>
          <p:cNvSpPr txBox="1"/>
          <p:nvPr/>
        </p:nvSpPr>
        <p:spPr>
          <a:xfrm>
            <a:off x="8291514" y="3424233"/>
            <a:ext cx="184666" cy="983533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生命周期管理</a:t>
            </a: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A615274A-FBE0-F218-AAB0-B58035154BF2}"/>
              </a:ext>
            </a:extLst>
          </p:cNvPr>
          <p:cNvSpPr txBox="1"/>
          <p:nvPr/>
        </p:nvSpPr>
        <p:spPr>
          <a:xfrm>
            <a:off x="9565485" y="3244062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背景知识</a:t>
            </a: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450428F1-118D-6CF6-37EC-2D0C0B74999E}"/>
              </a:ext>
            </a:extLst>
          </p:cNvPr>
          <p:cNvSpPr txBox="1"/>
          <p:nvPr/>
        </p:nvSpPr>
        <p:spPr>
          <a:xfrm>
            <a:off x="10737486" y="3232093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产品说明书</a:t>
            </a: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2C96400D-C2EE-FFCE-86BD-7C0A11B10AF1}"/>
              </a:ext>
            </a:extLst>
          </p:cNvPr>
          <p:cNvSpPr txBox="1"/>
          <p:nvPr/>
        </p:nvSpPr>
        <p:spPr>
          <a:xfrm>
            <a:off x="10036251" y="3859969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已执行的动作</a:t>
            </a: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7819C5BC-7940-3873-75C7-AC3BA2CDDC86}"/>
              </a:ext>
            </a:extLst>
          </p:cNvPr>
          <p:cNvSpPr txBox="1"/>
          <p:nvPr/>
        </p:nvSpPr>
        <p:spPr>
          <a:xfrm>
            <a:off x="10005599" y="4474677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界面当前状态</a:t>
            </a:r>
          </a:p>
        </p:txBody>
      </p:sp>
      <p:sp>
        <p:nvSpPr>
          <p:cNvPr id="255" name="五边形 83">
            <a:extLst>
              <a:ext uri="{FF2B5EF4-FFF2-40B4-BE49-F238E27FC236}">
                <a16:creationId xmlns:a16="http://schemas.microsoft.com/office/drawing/2014/main" id="{BD41ECE1-6230-5DBC-F39D-2E2B744C14DC}"/>
              </a:ext>
            </a:extLst>
          </p:cNvPr>
          <p:cNvSpPr/>
          <p:nvPr/>
        </p:nvSpPr>
        <p:spPr>
          <a:xfrm>
            <a:off x="583502" y="5280882"/>
            <a:ext cx="1875611" cy="576821"/>
          </a:xfrm>
          <a:prstGeom prst="homePlate">
            <a:avLst>
              <a:gd name="adj" fmla="val 17819"/>
            </a:avLst>
          </a:prstGeom>
          <a:gradFill flip="none" rotWithShape="1">
            <a:gsLst>
              <a:gs pos="32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6" name="燕尾形箭头 84">
            <a:extLst>
              <a:ext uri="{FF2B5EF4-FFF2-40B4-BE49-F238E27FC236}">
                <a16:creationId xmlns:a16="http://schemas.microsoft.com/office/drawing/2014/main" id="{D24561A8-8621-FEAA-DEF2-2522FC41E7EF}"/>
              </a:ext>
            </a:extLst>
          </p:cNvPr>
          <p:cNvSpPr/>
          <p:nvPr/>
        </p:nvSpPr>
        <p:spPr>
          <a:xfrm>
            <a:off x="2570758" y="5280882"/>
            <a:ext cx="9072000" cy="576821"/>
          </a:xfrm>
          <a:custGeom>
            <a:avLst/>
            <a:gdLst>
              <a:gd name="connsiteX0" fmla="*/ 0 w 9015037"/>
              <a:gd name="connsiteY0" fmla="*/ 0 h 576821"/>
              <a:gd name="connsiteX1" fmla="*/ 8925509 w 9015037"/>
              <a:gd name="connsiteY1" fmla="*/ 0 h 576821"/>
              <a:gd name="connsiteX2" fmla="*/ 8925509 w 9015037"/>
              <a:gd name="connsiteY2" fmla="*/ 0 h 576821"/>
              <a:gd name="connsiteX3" fmla="*/ 9015037 w 9015037"/>
              <a:gd name="connsiteY3" fmla="*/ 288411 h 576821"/>
              <a:gd name="connsiteX4" fmla="*/ 8925509 w 9015037"/>
              <a:gd name="connsiteY4" fmla="*/ 576821 h 576821"/>
              <a:gd name="connsiteX5" fmla="*/ 8925509 w 9015037"/>
              <a:gd name="connsiteY5" fmla="*/ 576821 h 576821"/>
              <a:gd name="connsiteX6" fmla="*/ 0 w 9015037"/>
              <a:gd name="connsiteY6" fmla="*/ 576821 h 576821"/>
              <a:gd name="connsiteX7" fmla="*/ 89528 w 9015037"/>
              <a:gd name="connsiteY7" fmla="*/ 288411 h 576821"/>
              <a:gd name="connsiteX8" fmla="*/ 0 w 9015037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303401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281176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5509" h="576821">
                <a:moveTo>
                  <a:pt x="0" y="0"/>
                </a:moveTo>
                <a:lnTo>
                  <a:pt x="8925509" y="0"/>
                </a:lnTo>
                <a:lnTo>
                  <a:pt x="8925509" y="0"/>
                </a:lnTo>
                <a:cubicBezTo>
                  <a:pt x="8925371" y="101134"/>
                  <a:pt x="8925234" y="180042"/>
                  <a:pt x="8925096" y="281176"/>
                </a:cubicBezTo>
                <a:cubicBezTo>
                  <a:pt x="8925234" y="372316"/>
                  <a:pt x="8925371" y="485681"/>
                  <a:pt x="8925509" y="576821"/>
                </a:cubicBezTo>
                <a:lnTo>
                  <a:pt x="8925509" y="576821"/>
                </a:lnTo>
                <a:lnTo>
                  <a:pt x="0" y="576821"/>
                </a:lnTo>
                <a:lnTo>
                  <a:pt x="89528" y="2884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1000">
                <a:schemeClr val="accent1"/>
              </a:gs>
              <a:gs pos="4000">
                <a:schemeClr val="accent1">
                  <a:lumMod val="80280"/>
                  <a:lumOff val="1972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89B10D1B-7DC3-F9C9-A7A0-E5164BBDACBD}"/>
              </a:ext>
            </a:extLst>
          </p:cNvPr>
          <p:cNvSpPr txBox="1"/>
          <p:nvPr/>
        </p:nvSpPr>
        <p:spPr>
          <a:xfrm>
            <a:off x="1053953" y="5446310"/>
            <a:ext cx="934708" cy="2366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浏览器</a:t>
            </a:r>
            <a:endParaRPr kumimoji="1" lang="zh-CN" altLang="en-US" sz="14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B5A1A9D6-A290-B946-FC0A-12124410067C}"/>
              </a:ext>
            </a:extLst>
          </p:cNvPr>
          <p:cNvSpPr txBox="1"/>
          <p:nvPr/>
        </p:nvSpPr>
        <p:spPr>
          <a:xfrm>
            <a:off x="4071858" y="5446310"/>
            <a:ext cx="6002732" cy="2366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基于 </a:t>
            </a:r>
            <a:r>
              <a:rPr lang="en-US" altLang="zh-CN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CDP (Chrome </a:t>
            </a:r>
            <a:r>
              <a:rPr lang="en-US" altLang="zh-CN" sz="1400" dirty="0" err="1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DevTools</a:t>
            </a:r>
            <a:r>
              <a:rPr lang="en-US" altLang="zh-CN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 Protocol) </a:t>
            </a:r>
            <a:r>
              <a:rPr lang="zh-CN" altLang="en-US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的高性能浏览器调度与执行平台</a:t>
            </a:r>
            <a:endParaRPr kumimoji="1" lang="zh-CN" altLang="en-US" sz="14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206704CC-F698-D92B-F327-5C5E36606031}"/>
              </a:ext>
            </a:extLst>
          </p:cNvPr>
          <p:cNvSpPr txBox="1"/>
          <p:nvPr/>
        </p:nvSpPr>
        <p:spPr>
          <a:xfrm>
            <a:off x="1101125" y="6312454"/>
            <a:ext cx="43601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HTML</a:t>
            </a:r>
            <a:endParaRPr kumimoji="1" lang="zh-CN" altLang="en-US" sz="1200" dirty="0">
              <a:solidFill>
                <a:schemeClr val="tx2">
                  <a:lumMod val="50000"/>
                </a:schemeClr>
              </a:solidFill>
              <a:latin typeface="OPPOSans R" pitchFamily="18" charset="-122"/>
              <a:ea typeface="OPPOSans R" pitchFamily="18" charset="-122"/>
              <a:cs typeface="OPPOSans R" pitchFamily="18" charset="-122"/>
            </a:endParaRPr>
          </a:p>
        </p:txBody>
      </p:sp>
      <p:sp>
        <p:nvSpPr>
          <p:cNvPr id="260" name="圆角矩形 90">
            <a:extLst>
              <a:ext uri="{FF2B5EF4-FFF2-40B4-BE49-F238E27FC236}">
                <a16:creationId xmlns:a16="http://schemas.microsoft.com/office/drawing/2014/main" id="{B3212D72-04EE-EBEB-CE6B-6D923BD77AFC}"/>
              </a:ext>
            </a:extLst>
          </p:cNvPr>
          <p:cNvSpPr/>
          <p:nvPr/>
        </p:nvSpPr>
        <p:spPr>
          <a:xfrm>
            <a:off x="2384173" y="6160208"/>
            <a:ext cx="2304000" cy="489158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C5AED29D-1535-4718-0D7E-97570A084864}"/>
              </a:ext>
            </a:extLst>
          </p:cNvPr>
          <p:cNvSpPr txBox="1"/>
          <p:nvPr/>
        </p:nvSpPr>
        <p:spPr>
          <a:xfrm>
            <a:off x="3151455" y="6312454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结构化文本</a:t>
            </a:r>
          </a:p>
        </p:txBody>
      </p:sp>
      <p:sp>
        <p:nvSpPr>
          <p:cNvPr id="262" name="圆角矩形 92">
            <a:extLst>
              <a:ext uri="{FF2B5EF4-FFF2-40B4-BE49-F238E27FC236}">
                <a16:creationId xmlns:a16="http://schemas.microsoft.com/office/drawing/2014/main" id="{E03312C2-5565-E913-04B9-534B6EE724A2}"/>
              </a:ext>
            </a:extLst>
          </p:cNvPr>
          <p:cNvSpPr/>
          <p:nvPr/>
        </p:nvSpPr>
        <p:spPr>
          <a:xfrm>
            <a:off x="4778852" y="6160208"/>
            <a:ext cx="2304000" cy="489158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43346CFF-7C1D-52DD-7EF3-73F48CE0B8CA}"/>
              </a:ext>
            </a:extLst>
          </p:cNvPr>
          <p:cNvSpPr txBox="1"/>
          <p:nvPr/>
        </p:nvSpPr>
        <p:spPr>
          <a:xfrm>
            <a:off x="5469189" y="631245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交互组件识别</a:t>
            </a:r>
          </a:p>
        </p:txBody>
      </p:sp>
      <p:sp>
        <p:nvSpPr>
          <p:cNvPr id="264" name="圆角矩形 94">
            <a:extLst>
              <a:ext uri="{FF2B5EF4-FFF2-40B4-BE49-F238E27FC236}">
                <a16:creationId xmlns:a16="http://schemas.microsoft.com/office/drawing/2014/main" id="{B1D58BD2-ECDB-E8B1-2D6E-CB90E4FB9C1E}"/>
              </a:ext>
            </a:extLst>
          </p:cNvPr>
          <p:cNvSpPr/>
          <p:nvPr/>
        </p:nvSpPr>
        <p:spPr>
          <a:xfrm>
            <a:off x="7162211" y="6160208"/>
            <a:ext cx="2304000" cy="489158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5" name="文本框 264">
            <a:extLst>
              <a:ext uri="{FF2B5EF4-FFF2-40B4-BE49-F238E27FC236}">
                <a16:creationId xmlns:a16="http://schemas.microsoft.com/office/drawing/2014/main" id="{ABE5A5C5-4E2F-91E6-DE2E-633C2299677A}"/>
              </a:ext>
            </a:extLst>
          </p:cNvPr>
          <p:cNvSpPr txBox="1"/>
          <p:nvPr/>
        </p:nvSpPr>
        <p:spPr>
          <a:xfrm>
            <a:off x="8006439" y="6312454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元素布局</a:t>
            </a:r>
          </a:p>
        </p:txBody>
      </p:sp>
      <p:sp>
        <p:nvSpPr>
          <p:cNvPr id="266" name="圆角矩形 96">
            <a:extLst>
              <a:ext uri="{FF2B5EF4-FFF2-40B4-BE49-F238E27FC236}">
                <a16:creationId xmlns:a16="http://schemas.microsoft.com/office/drawing/2014/main" id="{D98420C3-103D-2375-9A80-6C2880CE0661}"/>
              </a:ext>
            </a:extLst>
          </p:cNvPr>
          <p:cNvSpPr/>
          <p:nvPr/>
        </p:nvSpPr>
        <p:spPr>
          <a:xfrm>
            <a:off x="9568209" y="6160208"/>
            <a:ext cx="2304000" cy="489158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89430860-8BC3-A7DF-7FDE-1E9BB00C23FE}"/>
              </a:ext>
            </a:extLst>
          </p:cNvPr>
          <p:cNvSpPr txBox="1"/>
          <p:nvPr/>
        </p:nvSpPr>
        <p:spPr>
          <a:xfrm>
            <a:off x="10412435" y="6312454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层级关系</a:t>
            </a:r>
          </a:p>
        </p:txBody>
      </p:sp>
      <p:sp>
        <p:nvSpPr>
          <p:cNvPr id="268" name="上箭头 101">
            <a:extLst>
              <a:ext uri="{FF2B5EF4-FFF2-40B4-BE49-F238E27FC236}">
                <a16:creationId xmlns:a16="http://schemas.microsoft.com/office/drawing/2014/main" id="{C0D17497-7DF5-4E8E-B07C-531EE959BE75}"/>
              </a:ext>
            </a:extLst>
          </p:cNvPr>
          <p:cNvSpPr/>
          <p:nvPr/>
        </p:nvSpPr>
        <p:spPr>
          <a:xfrm>
            <a:off x="6858560" y="4854819"/>
            <a:ext cx="402394" cy="349968"/>
          </a:xfrm>
          <a:prstGeom prst="upArrow">
            <a:avLst>
              <a:gd name="adj1" fmla="val 58333"/>
              <a:gd name="adj2" fmla="val 50000"/>
            </a:avLst>
          </a:prstGeom>
          <a:gradFill>
            <a:gsLst>
              <a:gs pos="61000">
                <a:schemeClr val="accent1"/>
              </a:gs>
              <a:gs pos="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0"/>
          </a:gradFill>
          <a:ln w="6350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9" name="上箭头 102">
            <a:extLst>
              <a:ext uri="{FF2B5EF4-FFF2-40B4-BE49-F238E27FC236}">
                <a16:creationId xmlns:a16="http://schemas.microsoft.com/office/drawing/2014/main" id="{AC9689CB-8B2F-F278-9AE2-DB117ED10536}"/>
              </a:ext>
            </a:extLst>
          </p:cNvPr>
          <p:cNvSpPr/>
          <p:nvPr/>
        </p:nvSpPr>
        <p:spPr>
          <a:xfrm>
            <a:off x="6938302" y="1693442"/>
            <a:ext cx="402394" cy="349968"/>
          </a:xfrm>
          <a:prstGeom prst="upArrow">
            <a:avLst>
              <a:gd name="adj1" fmla="val 58333"/>
              <a:gd name="adj2" fmla="val 50000"/>
            </a:avLst>
          </a:prstGeom>
          <a:gradFill>
            <a:gsLst>
              <a:gs pos="61000">
                <a:schemeClr val="accent1"/>
              </a:gs>
              <a:gs pos="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0"/>
          </a:gradFill>
          <a:ln w="6350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70" name="文本框 269">
            <a:extLst>
              <a:ext uri="{FF2B5EF4-FFF2-40B4-BE49-F238E27FC236}">
                <a16:creationId xmlns:a16="http://schemas.microsoft.com/office/drawing/2014/main" id="{C5FDC54D-4F10-CBC5-A0C7-64F7FC4CDC7C}"/>
              </a:ext>
            </a:extLst>
          </p:cNvPr>
          <p:cNvSpPr txBox="1"/>
          <p:nvPr/>
        </p:nvSpPr>
        <p:spPr>
          <a:xfrm>
            <a:off x="599903" y="3889864"/>
            <a:ext cx="14384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>
                <a:solidFill>
                  <a:schemeClr val="tx2">
                    <a:lumMod val="75000"/>
                  </a:schemeClr>
                </a:solidFill>
              </a:rPr>
              <a:t>大模型</a:t>
            </a:r>
            <a:endParaRPr lang="en-US" altLang="zh-CN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71" name="图片 270">
            <a:extLst>
              <a:ext uri="{FF2B5EF4-FFF2-40B4-BE49-F238E27FC236}">
                <a16:creationId xmlns:a16="http://schemas.microsoft.com/office/drawing/2014/main" id="{907DE560-83DD-52C8-C915-C4D22A9C684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116" y="2540388"/>
            <a:ext cx="1322034" cy="1322034"/>
          </a:xfrm>
          <a:prstGeom prst="rect">
            <a:avLst/>
          </a:prstGeom>
          <a:effectLst>
            <a:outerShdw blurRad="101600" dist="127000" dir="5400000" sx="90000" sy="90000" algn="ctr" rotWithShape="0">
              <a:schemeClr val="accent1">
                <a:alpha val="19626"/>
              </a:schemeClr>
            </a:outerShdw>
          </a:effectLst>
        </p:spPr>
      </p:pic>
      <p:sp>
        <p:nvSpPr>
          <p:cNvPr id="272" name="文本框 271">
            <a:extLst>
              <a:ext uri="{FF2B5EF4-FFF2-40B4-BE49-F238E27FC236}">
                <a16:creationId xmlns:a16="http://schemas.microsoft.com/office/drawing/2014/main" id="{D3BAAC9C-B2B1-EBD8-8101-A04359C42A4D}"/>
              </a:ext>
            </a:extLst>
          </p:cNvPr>
          <p:cNvSpPr txBox="1"/>
          <p:nvPr/>
        </p:nvSpPr>
        <p:spPr>
          <a:xfrm>
            <a:off x="752738" y="4099394"/>
            <a:ext cx="11327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en-US" altLang="zh-CN" sz="700" dirty="0">
                <a:solidFill>
                  <a:schemeClr val="tx2">
                    <a:lumMod val="75000"/>
                  </a:schemeClr>
                </a:solidFill>
              </a:rPr>
              <a:t>Large Language Models</a:t>
            </a:r>
            <a:endParaRPr lang="zh-CN" altLang="en-US" sz="7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C3BF55DA-E4B9-48CD-DF78-3D6001016C84}"/>
              </a:ext>
            </a:extLst>
          </p:cNvPr>
          <p:cNvSpPr txBox="1">
            <a:spLocks/>
          </p:cNvSpPr>
          <p:nvPr/>
        </p:nvSpPr>
        <p:spPr>
          <a:xfrm>
            <a:off x="2734270" y="406314"/>
            <a:ext cx="6489343" cy="39857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M" panose="00020600040101010101" pitchFamily="18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sz="2800" dirty="0">
                <a:solidFill>
                  <a:schemeClr val="tx1"/>
                </a:solidFill>
                <a:latin typeface="OPPOSans B" panose="00020600040101010101" pitchFamily="18" charset="-122"/>
                <a:ea typeface="OPPOSans B" panose="00020600040101010101" pitchFamily="18" charset="-122"/>
              </a:rPr>
              <a:t>AI</a:t>
            </a:r>
            <a:r>
              <a:rPr lang="zh-CN" altLang="en-US" sz="2800" dirty="0">
                <a:solidFill>
                  <a:schemeClr val="tx1"/>
                </a:solidFill>
                <a:latin typeface="OPPOSans B" panose="00020600040101010101" pitchFamily="18" charset="-122"/>
                <a:ea typeface="OPPOSans B" panose="00020600040101010101" pitchFamily="18" charset="-122"/>
              </a:rPr>
              <a:t>驱动的浏览器自动化与任务执行框架</a:t>
            </a:r>
          </a:p>
        </p:txBody>
      </p:sp>
      <p:sp>
        <p:nvSpPr>
          <p:cNvPr id="9" name="灯片编号占位符 7">
            <a:extLst>
              <a:ext uri="{FF2B5EF4-FFF2-40B4-BE49-F238E27FC236}">
                <a16:creationId xmlns:a16="http://schemas.microsoft.com/office/drawing/2014/main" id="{57266397-8D7E-76D3-BAFC-51C202E6EEEE}"/>
              </a:ext>
            </a:extLst>
          </p:cNvPr>
          <p:cNvSpPr txBox="1">
            <a:spLocks/>
          </p:cNvSpPr>
          <p:nvPr/>
        </p:nvSpPr>
        <p:spPr>
          <a:xfrm>
            <a:off x="346017" y="419890"/>
            <a:ext cx="2302343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en-US" altLang="zh-CN" sz="3400" kern="12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Browser Use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0" name="直线连接符 4">
            <a:extLst>
              <a:ext uri="{FF2B5EF4-FFF2-40B4-BE49-F238E27FC236}">
                <a16:creationId xmlns:a16="http://schemas.microsoft.com/office/drawing/2014/main" id="{D490F295-04A8-8E9F-9FF9-9E85BC67FF9C}"/>
              </a:ext>
            </a:extLst>
          </p:cNvPr>
          <p:cNvCxnSpPr>
            <a:cxnSpLocks/>
          </p:cNvCxnSpPr>
          <p:nvPr/>
        </p:nvCxnSpPr>
        <p:spPr>
          <a:xfrm>
            <a:off x="2648362" y="469305"/>
            <a:ext cx="0" cy="311649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B4A79C4-6800-A793-2A86-0B70CBDF7D73}"/>
              </a:ext>
            </a:extLst>
          </p:cNvPr>
          <p:cNvGrpSpPr/>
          <p:nvPr/>
        </p:nvGrpSpPr>
        <p:grpSpPr>
          <a:xfrm flipV="1">
            <a:off x="10970102" y="509622"/>
            <a:ext cx="616224" cy="182198"/>
            <a:chOff x="11119836" y="579926"/>
            <a:chExt cx="643372" cy="190224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EE643CE-6E01-2772-0EF3-B5CEA3D3183C}"/>
                </a:ext>
              </a:extLst>
            </p:cNvPr>
            <p:cNvSpPr/>
            <p:nvPr/>
          </p:nvSpPr>
          <p:spPr>
            <a:xfrm>
              <a:off x="11119836" y="579926"/>
              <a:ext cx="190224" cy="190224"/>
            </a:xfrm>
            <a:prstGeom prst="roundRect">
              <a:avLst>
                <a:gd name="adj" fmla="val 7319"/>
              </a:avLst>
            </a:prstGeom>
            <a:ln>
              <a:noFill/>
            </a:ln>
            <a:effectLst>
              <a:outerShdw blurRad="254000" dist="63500" dir="2700000" sx="102000" sy="102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239D675-96F9-C205-E485-46D96FB79685}"/>
                </a:ext>
              </a:extLst>
            </p:cNvPr>
            <p:cNvSpPr/>
            <p:nvPr/>
          </p:nvSpPr>
          <p:spPr>
            <a:xfrm>
              <a:off x="11346410" y="579926"/>
              <a:ext cx="190224" cy="190224"/>
            </a:xfrm>
            <a:prstGeom prst="roundRect">
              <a:avLst>
                <a:gd name="adj" fmla="val 941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54000" dist="63500" dir="2700000" sx="102000" sy="102000" algn="tl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FB57F89-A4DA-28FA-98E2-FCC587082866}"/>
                </a:ext>
              </a:extLst>
            </p:cNvPr>
            <p:cNvSpPr/>
            <p:nvPr/>
          </p:nvSpPr>
          <p:spPr>
            <a:xfrm>
              <a:off x="11572984" y="579926"/>
              <a:ext cx="190224" cy="190224"/>
            </a:xfrm>
            <a:prstGeom prst="roundRect">
              <a:avLst>
                <a:gd name="adj" fmla="val 10456"/>
              </a:avLst>
            </a:prstGeom>
            <a:solidFill>
              <a:schemeClr val="accent3"/>
            </a:solidFill>
            <a:ln>
              <a:noFill/>
            </a:ln>
            <a:effectLst>
              <a:outerShdw blurRad="254000" dist="63500" dir="2700000" sx="102000" sy="102000" algn="tl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395554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Office 主题​​">
  <a:themeElements>
    <a:clrScheme name="深邃商务蓝">
      <a:dk1>
        <a:sysClr val="windowText" lastClr="000000"/>
      </a:dk1>
      <a:lt1>
        <a:sysClr val="window" lastClr="FFFFFF"/>
      </a:lt1>
      <a:dk2>
        <a:srgbClr val="171616"/>
      </a:dk2>
      <a:lt2>
        <a:srgbClr val="FFFFFF"/>
      </a:lt2>
      <a:accent1>
        <a:srgbClr val="0048BF"/>
      </a:accent1>
      <a:accent2>
        <a:srgbClr val="0563C1"/>
      </a:accent2>
      <a:accent3>
        <a:srgbClr val="0563C1"/>
      </a:accent3>
      <a:accent4>
        <a:srgbClr val="0061FF"/>
      </a:accent4>
      <a:accent5>
        <a:srgbClr val="0563C1"/>
      </a:accent5>
      <a:accent6>
        <a:srgbClr val="0563C1"/>
      </a:accent6>
      <a:hlink>
        <a:srgbClr val="0563C1"/>
      </a:hlink>
      <a:folHlink>
        <a:srgbClr val="954F72"/>
      </a:folHlink>
    </a:clrScheme>
    <a:fontScheme name="oppo">
      <a:majorFont>
        <a:latin typeface="Arial Black"/>
        <a:ea typeface="OPPOSans M"/>
        <a:cs typeface=""/>
      </a:majorFont>
      <a:minorFont>
        <a:latin typeface="Arial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2195</TotalTime>
  <Words>125</Words>
  <Application>Microsoft Office PowerPoint</Application>
  <PresentationFormat>宽屏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OPPOSans B</vt:lpstr>
      <vt:lpstr>OPPOSans M</vt:lpstr>
      <vt:lpstr>OPPOSans R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O365</dc:creator>
  <cp:lastModifiedBy>admin</cp:lastModifiedBy>
  <cp:revision>255</cp:revision>
  <dcterms:created xsi:type="dcterms:W3CDTF">2023-08-19T11:20:34Z</dcterms:created>
  <dcterms:modified xsi:type="dcterms:W3CDTF">2025-12-22T03:26:03Z</dcterms:modified>
</cp:coreProperties>
</file>